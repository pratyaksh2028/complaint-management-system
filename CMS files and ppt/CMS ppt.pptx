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Roca One Heavy" charset="1" panose="00000A00000000000000"/>
      <p:regular r:id="rId19"/>
    </p:embeddedFont>
    <p:embeddedFont>
      <p:font typeface="Roca One Heavy Italics" charset="1" panose="00000A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3047" y="0"/>
            <a:ext cx="7864953" cy="10287000"/>
            <a:chOff x="0" y="0"/>
            <a:chExt cx="207142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142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71428">
                  <a:moveTo>
                    <a:pt x="0" y="0"/>
                  </a:moveTo>
                  <a:lnTo>
                    <a:pt x="2071428" y="0"/>
                  </a:lnTo>
                  <a:lnTo>
                    <a:pt x="207142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7142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797278" y="-1725121"/>
            <a:ext cx="5953715" cy="595371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19150"/>
            <a:ext cx="15490870" cy="762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1"/>
              </a:lnSpc>
              <a:spcBef>
                <a:spcPct val="0"/>
              </a:spcBef>
            </a:pPr>
            <a:r>
              <a:rPr lang="en-US" b="true" sz="10815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COMPLAINT</a:t>
            </a:r>
          </a:p>
          <a:p>
            <a:pPr algn="l">
              <a:lnSpc>
                <a:spcPts val="15141"/>
              </a:lnSpc>
              <a:spcBef>
                <a:spcPct val="0"/>
              </a:spcBef>
            </a:pPr>
            <a:r>
              <a:rPr lang="en-US" b="true" sz="10815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MANAGEMENT</a:t>
            </a:r>
          </a:p>
          <a:p>
            <a:pPr algn="l">
              <a:lnSpc>
                <a:spcPts val="15141"/>
              </a:lnSpc>
              <a:spcBef>
                <a:spcPct val="0"/>
              </a:spcBef>
            </a:pPr>
            <a:r>
              <a:rPr lang="en-US" b="true" sz="10815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SYSTEM</a:t>
            </a:r>
          </a:p>
          <a:p>
            <a:pPr algn="l">
              <a:lnSpc>
                <a:spcPts val="1542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08192" y="7748991"/>
            <a:ext cx="9410113" cy="1948377"/>
            <a:chOff x="0" y="0"/>
            <a:chExt cx="2478384" cy="513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8384" cy="513153"/>
            </a:xfrm>
            <a:custGeom>
              <a:avLst/>
              <a:gdLst/>
              <a:ahLst/>
              <a:cxnLst/>
              <a:rect r="r" b="b" t="t" l="l"/>
              <a:pathLst>
                <a:path h="513153" w="2478384">
                  <a:moveTo>
                    <a:pt x="0" y="0"/>
                  </a:moveTo>
                  <a:lnTo>
                    <a:pt x="2478384" y="0"/>
                  </a:lnTo>
                  <a:lnTo>
                    <a:pt x="2478384" y="513153"/>
                  </a:lnTo>
                  <a:lnTo>
                    <a:pt x="0" y="51315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78384" cy="55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7911777"/>
            <a:ext cx="9189606" cy="178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6"/>
              </a:lnSpc>
            </a:pPr>
            <a:r>
              <a:rPr lang="en-US" sz="3526" b="true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Project Guidance :</a:t>
            </a:r>
          </a:p>
          <a:p>
            <a:pPr algn="l">
              <a:lnSpc>
                <a:spcPts val="3396"/>
              </a:lnSpc>
            </a:pPr>
            <a:r>
              <a:rPr lang="en-US" sz="2426" b="true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GUIDED BY:Mr. Hitesh Sharma (Major Project Supervisor)</a:t>
            </a:r>
          </a:p>
          <a:p>
            <a:pPr algn="l">
              <a:lnSpc>
                <a:spcPts val="2976"/>
              </a:lnSpc>
            </a:pP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1120985" y="7495605"/>
            <a:ext cx="6836253" cy="2316493"/>
            <a:chOff x="0" y="0"/>
            <a:chExt cx="1800495" cy="6101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0495" cy="610105"/>
            </a:xfrm>
            <a:custGeom>
              <a:avLst/>
              <a:gdLst/>
              <a:ahLst/>
              <a:cxnLst/>
              <a:rect r="r" b="b" t="t" l="l"/>
              <a:pathLst>
                <a:path h="610105" w="1800495">
                  <a:moveTo>
                    <a:pt x="0" y="0"/>
                  </a:moveTo>
                  <a:lnTo>
                    <a:pt x="1800495" y="0"/>
                  </a:lnTo>
                  <a:lnTo>
                    <a:pt x="1800495" y="610105"/>
                  </a:lnTo>
                  <a:lnTo>
                    <a:pt x="0" y="610105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800495" cy="648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33401" y="6466582"/>
            <a:ext cx="8692324" cy="3345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4"/>
              </a:lnSpc>
            </a:pPr>
            <a:r>
              <a:rPr lang="en-US" sz="3939" b="true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        </a:t>
            </a:r>
          </a:p>
          <a:p>
            <a:pPr algn="l">
              <a:lnSpc>
                <a:spcPts val="5094"/>
              </a:lnSpc>
            </a:pPr>
          </a:p>
          <a:p>
            <a:pPr algn="l">
              <a:lnSpc>
                <a:spcPts val="4814"/>
              </a:lnSpc>
            </a:pPr>
            <a:r>
              <a:rPr lang="en-US" sz="3439" b="true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PRESENTED BY:</a:t>
            </a:r>
          </a:p>
          <a:p>
            <a:pPr algn="l">
              <a:lnSpc>
                <a:spcPts val="3687"/>
              </a:lnSpc>
            </a:pPr>
            <a:r>
              <a:rPr lang="en-US" sz="2634" i="true" b="true">
                <a:solidFill>
                  <a:srgbClr val="FFFFFF"/>
                </a:solidFill>
                <a:latin typeface="Roca One Heavy Italics"/>
                <a:ea typeface="Roca One Heavy Italics"/>
                <a:cs typeface="Roca One Heavy Italics"/>
                <a:sym typeface="Roca One Heavy Italics"/>
              </a:rPr>
              <a:t>Pratyaksh Rawat , Priyanshu Singh , </a:t>
            </a:r>
          </a:p>
          <a:p>
            <a:pPr algn="l">
              <a:lnSpc>
                <a:spcPts val="3687"/>
              </a:lnSpc>
            </a:pPr>
            <a:r>
              <a:rPr lang="en-US" sz="2634" i="true" b="true">
                <a:solidFill>
                  <a:srgbClr val="FFFFFF"/>
                </a:solidFill>
                <a:latin typeface="Roca One Heavy Italics"/>
                <a:ea typeface="Roca One Heavy Italics"/>
                <a:cs typeface="Roca One Heavy Italics"/>
                <a:sym typeface="Roca One Heavy Italics"/>
              </a:rPr>
              <a:t>Ritik Bhardwaj , Arjun Verma</a:t>
            </a:r>
          </a:p>
          <a:p>
            <a:pPr algn="l">
              <a:lnSpc>
                <a:spcPts val="3687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-2091968">
            <a:off x="16829061" y="955810"/>
            <a:ext cx="5730690" cy="5097556"/>
            <a:chOff x="0" y="0"/>
            <a:chExt cx="1509318" cy="13425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09318" cy="1342566"/>
            </a:xfrm>
            <a:custGeom>
              <a:avLst/>
              <a:gdLst/>
              <a:ahLst/>
              <a:cxnLst/>
              <a:rect r="r" b="b" t="t" l="l"/>
              <a:pathLst>
                <a:path h="1342566" w="1509318">
                  <a:moveTo>
                    <a:pt x="0" y="0"/>
                  </a:moveTo>
                  <a:lnTo>
                    <a:pt x="1509318" y="0"/>
                  </a:lnTo>
                  <a:lnTo>
                    <a:pt x="1509318" y="1342566"/>
                  </a:lnTo>
                  <a:lnTo>
                    <a:pt x="0" y="134256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09318" cy="1380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564893">
            <a:off x="11996065" y="-4294280"/>
            <a:ext cx="13868620" cy="14749198"/>
            <a:chOff x="0" y="0"/>
            <a:chExt cx="3652641" cy="3884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2641" cy="3884563"/>
            </a:xfrm>
            <a:custGeom>
              <a:avLst/>
              <a:gdLst/>
              <a:ahLst/>
              <a:cxnLst/>
              <a:rect r="r" b="b" t="t" l="l"/>
              <a:pathLst>
                <a:path h="3884563" w="3652641">
                  <a:moveTo>
                    <a:pt x="0" y="0"/>
                  </a:moveTo>
                  <a:lnTo>
                    <a:pt x="3652641" y="0"/>
                  </a:lnTo>
                  <a:lnTo>
                    <a:pt x="3652641" y="3884563"/>
                  </a:lnTo>
                  <a:lnTo>
                    <a:pt x="0" y="388456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52641" cy="3922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609547">
            <a:off x="-1771781" y="-3613527"/>
            <a:ext cx="1979944" cy="14611460"/>
            <a:chOff x="0" y="0"/>
            <a:chExt cx="521467" cy="38482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1467" cy="3848286"/>
            </a:xfrm>
            <a:custGeom>
              <a:avLst/>
              <a:gdLst/>
              <a:ahLst/>
              <a:cxnLst/>
              <a:rect r="r" b="b" t="t" l="l"/>
              <a:pathLst>
                <a:path h="3848286" w="521467">
                  <a:moveTo>
                    <a:pt x="0" y="0"/>
                  </a:moveTo>
                  <a:lnTo>
                    <a:pt x="521467" y="0"/>
                  </a:lnTo>
                  <a:lnTo>
                    <a:pt x="521467" y="3848286"/>
                  </a:lnTo>
                  <a:lnTo>
                    <a:pt x="0" y="3848286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1467" cy="3886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0307" y="426349"/>
            <a:ext cx="7455799" cy="1339221"/>
            <a:chOff x="0" y="0"/>
            <a:chExt cx="1963667" cy="3527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3667" cy="352717"/>
            </a:xfrm>
            <a:custGeom>
              <a:avLst/>
              <a:gdLst/>
              <a:ahLst/>
              <a:cxnLst/>
              <a:rect r="r" b="b" t="t" l="l"/>
              <a:pathLst>
                <a:path h="352717" w="1963667">
                  <a:moveTo>
                    <a:pt x="0" y="0"/>
                  </a:moveTo>
                  <a:lnTo>
                    <a:pt x="1963667" y="0"/>
                  </a:lnTo>
                  <a:lnTo>
                    <a:pt x="1963667" y="352717"/>
                  </a:lnTo>
                  <a:lnTo>
                    <a:pt x="0" y="3527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63667" cy="390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08822"/>
            <a:ext cx="7079014" cy="954374"/>
            <a:chOff x="0" y="0"/>
            <a:chExt cx="1864432" cy="2513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64432" cy="251358"/>
            </a:xfrm>
            <a:custGeom>
              <a:avLst/>
              <a:gdLst/>
              <a:ahLst/>
              <a:cxnLst/>
              <a:rect r="r" b="b" t="t" l="l"/>
              <a:pathLst>
                <a:path h="251358" w="1864432">
                  <a:moveTo>
                    <a:pt x="0" y="0"/>
                  </a:moveTo>
                  <a:lnTo>
                    <a:pt x="1864432" y="0"/>
                  </a:lnTo>
                  <a:lnTo>
                    <a:pt x="1864432" y="251358"/>
                  </a:lnTo>
                  <a:lnTo>
                    <a:pt x="0" y="25135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64432" cy="289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39893" y="642940"/>
            <a:ext cx="19861289" cy="92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4662" indent="-582331" lvl="1">
              <a:lnSpc>
                <a:spcPts val="7552"/>
              </a:lnSpc>
              <a:spcBef>
                <a:spcPct val="0"/>
              </a:spcBef>
              <a:buAutoNum type="arabicPeriod" startAt="1"/>
            </a:pPr>
            <a:r>
              <a:rPr lang="en-US" b="true" sz="5394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INTRODUCTION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357689"/>
            <a:ext cx="7267406" cy="2570233"/>
            <a:chOff x="0" y="0"/>
            <a:chExt cx="1914049" cy="6769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4049" cy="676934"/>
            </a:xfrm>
            <a:custGeom>
              <a:avLst/>
              <a:gdLst/>
              <a:ahLst/>
              <a:cxnLst/>
              <a:rect r="r" b="b" t="t" l="l"/>
              <a:pathLst>
                <a:path h="676934" w="1914049">
                  <a:moveTo>
                    <a:pt x="18110" y="0"/>
                  </a:moveTo>
                  <a:lnTo>
                    <a:pt x="1895940" y="0"/>
                  </a:lnTo>
                  <a:cubicBezTo>
                    <a:pt x="1905941" y="0"/>
                    <a:pt x="1914049" y="8108"/>
                    <a:pt x="1914049" y="18110"/>
                  </a:cubicBezTo>
                  <a:lnTo>
                    <a:pt x="1914049" y="658824"/>
                  </a:lnTo>
                  <a:cubicBezTo>
                    <a:pt x="1914049" y="663627"/>
                    <a:pt x="1912141" y="668233"/>
                    <a:pt x="1908745" y="671629"/>
                  </a:cubicBezTo>
                  <a:cubicBezTo>
                    <a:pt x="1905349" y="675026"/>
                    <a:pt x="1900743" y="676934"/>
                    <a:pt x="1895940" y="676934"/>
                  </a:cubicBezTo>
                  <a:lnTo>
                    <a:pt x="18110" y="676934"/>
                  </a:lnTo>
                  <a:cubicBezTo>
                    <a:pt x="8108" y="676934"/>
                    <a:pt x="0" y="668826"/>
                    <a:pt x="0" y="658824"/>
                  </a:cubicBezTo>
                  <a:lnTo>
                    <a:pt x="0" y="18110"/>
                  </a:lnTo>
                  <a:cubicBezTo>
                    <a:pt x="0" y="13307"/>
                    <a:pt x="1908" y="8701"/>
                    <a:pt x="5304" y="5304"/>
                  </a:cubicBezTo>
                  <a:cubicBezTo>
                    <a:pt x="8701" y="1908"/>
                    <a:pt x="13307" y="0"/>
                    <a:pt x="1811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14049" cy="715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3357689"/>
            <a:ext cx="183710" cy="2570233"/>
            <a:chOff x="0" y="0"/>
            <a:chExt cx="48384" cy="6769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384" cy="676934"/>
            </a:xfrm>
            <a:custGeom>
              <a:avLst/>
              <a:gdLst/>
              <a:ahLst/>
              <a:cxnLst/>
              <a:rect r="r" b="b" t="t" l="l"/>
              <a:pathLst>
                <a:path h="676934" w="48384">
                  <a:moveTo>
                    <a:pt x="24192" y="0"/>
                  </a:moveTo>
                  <a:lnTo>
                    <a:pt x="24192" y="0"/>
                  </a:lnTo>
                  <a:cubicBezTo>
                    <a:pt x="37553" y="0"/>
                    <a:pt x="48384" y="10831"/>
                    <a:pt x="48384" y="24192"/>
                  </a:cubicBezTo>
                  <a:lnTo>
                    <a:pt x="48384" y="652742"/>
                  </a:lnTo>
                  <a:cubicBezTo>
                    <a:pt x="48384" y="659158"/>
                    <a:pt x="45836" y="665311"/>
                    <a:pt x="41299" y="669848"/>
                  </a:cubicBezTo>
                  <a:cubicBezTo>
                    <a:pt x="36762" y="674385"/>
                    <a:pt x="30608" y="676934"/>
                    <a:pt x="24192" y="676934"/>
                  </a:cubicBezTo>
                  <a:lnTo>
                    <a:pt x="24192" y="676934"/>
                  </a:lnTo>
                  <a:cubicBezTo>
                    <a:pt x="10831" y="676934"/>
                    <a:pt x="0" y="666103"/>
                    <a:pt x="0" y="652742"/>
                  </a:cubicBezTo>
                  <a:lnTo>
                    <a:pt x="0" y="24192"/>
                  </a:lnTo>
                  <a:cubicBezTo>
                    <a:pt x="0" y="17776"/>
                    <a:pt x="2549" y="11623"/>
                    <a:pt x="7086" y="7086"/>
                  </a:cubicBezTo>
                  <a:cubicBezTo>
                    <a:pt x="11623" y="2549"/>
                    <a:pt x="17776" y="0"/>
                    <a:pt x="241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8384" cy="715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49684" y="3319420"/>
            <a:ext cx="5204854" cy="7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  <a:spcBef>
                <a:spcPct val="0"/>
              </a:spcBef>
            </a:pPr>
            <a:r>
              <a:rPr lang="en-US" b="true" sz="4410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Roca One Heavy"/>
                <a:ea typeface="Roca One Heavy"/>
                <a:cs typeface="Roca One Heavy"/>
                <a:sym typeface="Roca One Heavy"/>
              </a:rPr>
              <a:t>Project Overview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9684" y="3985968"/>
            <a:ext cx="6758030" cy="172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1"/>
              </a:lnSpc>
              <a:spcBef>
                <a:spcPct val="0"/>
              </a:spcBef>
            </a:pPr>
            <a:r>
              <a:rPr lang="en-US" b="true" sz="2486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A web-based application designed to bridge the communication gap between users and administrators for reporting and resolving grievances.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64419" y="2239471"/>
            <a:ext cx="7594881" cy="2312299"/>
            <a:chOff x="0" y="0"/>
            <a:chExt cx="2000298" cy="6090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298" cy="609001"/>
            </a:xfrm>
            <a:custGeom>
              <a:avLst/>
              <a:gdLst/>
              <a:ahLst/>
              <a:cxnLst/>
              <a:rect r="r" b="b" t="t" l="l"/>
              <a:pathLst>
                <a:path h="609001" w="2000298">
                  <a:moveTo>
                    <a:pt x="17329" y="0"/>
                  </a:moveTo>
                  <a:lnTo>
                    <a:pt x="1982969" y="0"/>
                  </a:lnTo>
                  <a:cubicBezTo>
                    <a:pt x="1992539" y="0"/>
                    <a:pt x="2000298" y="7759"/>
                    <a:pt x="2000298" y="17329"/>
                  </a:cubicBezTo>
                  <a:lnTo>
                    <a:pt x="2000298" y="591671"/>
                  </a:lnTo>
                  <a:cubicBezTo>
                    <a:pt x="2000298" y="596267"/>
                    <a:pt x="1998472" y="600675"/>
                    <a:pt x="1995222" y="603925"/>
                  </a:cubicBezTo>
                  <a:cubicBezTo>
                    <a:pt x="1991972" y="607175"/>
                    <a:pt x="1987565" y="609001"/>
                    <a:pt x="1982969" y="609001"/>
                  </a:cubicBezTo>
                  <a:lnTo>
                    <a:pt x="17329" y="609001"/>
                  </a:lnTo>
                  <a:cubicBezTo>
                    <a:pt x="12733" y="609001"/>
                    <a:pt x="8325" y="607175"/>
                    <a:pt x="5076" y="603925"/>
                  </a:cubicBezTo>
                  <a:cubicBezTo>
                    <a:pt x="1826" y="600675"/>
                    <a:pt x="0" y="596267"/>
                    <a:pt x="0" y="591671"/>
                  </a:cubicBezTo>
                  <a:lnTo>
                    <a:pt x="0" y="17329"/>
                  </a:lnTo>
                  <a:cubicBezTo>
                    <a:pt x="0" y="12733"/>
                    <a:pt x="1826" y="8325"/>
                    <a:pt x="5076" y="5076"/>
                  </a:cubicBezTo>
                  <a:cubicBezTo>
                    <a:pt x="8325" y="1826"/>
                    <a:pt x="12733" y="0"/>
                    <a:pt x="1732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00298" cy="647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59949" y="2335423"/>
            <a:ext cx="5700895" cy="74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2"/>
              </a:lnSpc>
              <a:spcBef>
                <a:spcPct val="0"/>
              </a:spcBef>
            </a:pPr>
            <a:r>
              <a:rPr lang="en-US" b="true" sz="4423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Roca One Heavy"/>
                <a:ea typeface="Roca One Heavy"/>
                <a:cs typeface="Roca One Heavy"/>
                <a:sym typeface="Roca One Heavy"/>
              </a:rPr>
              <a:t>    Purpose 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64419" y="2239471"/>
            <a:ext cx="177047" cy="2312299"/>
            <a:chOff x="0" y="0"/>
            <a:chExt cx="46630" cy="6090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630" cy="609001"/>
            </a:xfrm>
            <a:custGeom>
              <a:avLst/>
              <a:gdLst/>
              <a:ahLst/>
              <a:cxnLst/>
              <a:rect r="r" b="b" t="t" l="l"/>
              <a:pathLst>
                <a:path h="609001" w="46630">
                  <a:moveTo>
                    <a:pt x="23315" y="0"/>
                  </a:moveTo>
                  <a:lnTo>
                    <a:pt x="23315" y="0"/>
                  </a:lnTo>
                  <a:cubicBezTo>
                    <a:pt x="29498" y="0"/>
                    <a:pt x="35428" y="2456"/>
                    <a:pt x="39801" y="6829"/>
                  </a:cubicBezTo>
                  <a:cubicBezTo>
                    <a:pt x="44173" y="11201"/>
                    <a:pt x="46630" y="17131"/>
                    <a:pt x="46630" y="23315"/>
                  </a:cubicBezTo>
                  <a:lnTo>
                    <a:pt x="46630" y="585686"/>
                  </a:lnTo>
                  <a:cubicBezTo>
                    <a:pt x="46630" y="591869"/>
                    <a:pt x="44173" y="597800"/>
                    <a:pt x="39801" y="602172"/>
                  </a:cubicBezTo>
                  <a:cubicBezTo>
                    <a:pt x="35428" y="606544"/>
                    <a:pt x="29498" y="609001"/>
                    <a:pt x="23315" y="609001"/>
                  </a:cubicBezTo>
                  <a:lnTo>
                    <a:pt x="23315" y="609001"/>
                  </a:lnTo>
                  <a:cubicBezTo>
                    <a:pt x="10438" y="609001"/>
                    <a:pt x="0" y="598562"/>
                    <a:pt x="0" y="585686"/>
                  </a:cubicBezTo>
                  <a:lnTo>
                    <a:pt x="0" y="23315"/>
                  </a:lnTo>
                  <a:cubicBezTo>
                    <a:pt x="0" y="10438"/>
                    <a:pt x="10438" y="0"/>
                    <a:pt x="2331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6630" cy="647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74816" y="3032694"/>
            <a:ext cx="7284484" cy="127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  <a:spcBef>
                <a:spcPct val="0"/>
              </a:spcBef>
            </a:pPr>
            <a:r>
              <a:rPr lang="en-US" b="true" sz="2445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To digitize the entire lifecycle of a complaint—from lodging a ticket to final resolution—ensuring total transparency and efficiency.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0" y="5370920"/>
            <a:ext cx="7521603" cy="1956217"/>
            <a:chOff x="0" y="0"/>
            <a:chExt cx="1980998" cy="5152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80998" cy="515218"/>
            </a:xfrm>
            <a:custGeom>
              <a:avLst/>
              <a:gdLst/>
              <a:ahLst/>
              <a:cxnLst/>
              <a:rect r="r" b="b" t="t" l="l"/>
              <a:pathLst>
                <a:path h="515218" w="1980998">
                  <a:moveTo>
                    <a:pt x="17498" y="0"/>
                  </a:moveTo>
                  <a:lnTo>
                    <a:pt x="1963500" y="0"/>
                  </a:lnTo>
                  <a:cubicBezTo>
                    <a:pt x="1973164" y="0"/>
                    <a:pt x="1980998" y="7834"/>
                    <a:pt x="1980998" y="17498"/>
                  </a:cubicBezTo>
                  <a:lnTo>
                    <a:pt x="1980998" y="497720"/>
                  </a:lnTo>
                  <a:cubicBezTo>
                    <a:pt x="1980998" y="507384"/>
                    <a:pt x="1973164" y="515218"/>
                    <a:pt x="1963500" y="515218"/>
                  </a:cubicBezTo>
                  <a:lnTo>
                    <a:pt x="17498" y="515218"/>
                  </a:lnTo>
                  <a:cubicBezTo>
                    <a:pt x="7834" y="515218"/>
                    <a:pt x="0" y="507384"/>
                    <a:pt x="0" y="497720"/>
                  </a:cubicBezTo>
                  <a:lnTo>
                    <a:pt x="0" y="17498"/>
                  </a:lnTo>
                  <a:cubicBezTo>
                    <a:pt x="0" y="7834"/>
                    <a:pt x="7834" y="0"/>
                    <a:pt x="1749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980998" cy="553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515090" y="5313770"/>
            <a:ext cx="3528541" cy="76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9"/>
              </a:lnSpc>
              <a:spcBef>
                <a:spcPct val="0"/>
              </a:spcBef>
            </a:pPr>
            <a:r>
              <a:rPr lang="en-US" b="true" sz="4470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Roca One Heavy"/>
                <a:ea typeface="Roca One Heavy"/>
                <a:cs typeface="Roca One Heavy"/>
                <a:sym typeface="Roca One Heavy"/>
              </a:rPr>
              <a:t>Domain :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0" y="5370920"/>
            <a:ext cx="182599" cy="1956217"/>
            <a:chOff x="0" y="0"/>
            <a:chExt cx="48092" cy="51521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092" cy="515218"/>
            </a:xfrm>
            <a:custGeom>
              <a:avLst/>
              <a:gdLst/>
              <a:ahLst/>
              <a:cxnLst/>
              <a:rect r="r" b="b" t="t" l="l"/>
              <a:pathLst>
                <a:path h="515218" w="48092">
                  <a:moveTo>
                    <a:pt x="24046" y="0"/>
                  </a:moveTo>
                  <a:lnTo>
                    <a:pt x="24046" y="0"/>
                  </a:lnTo>
                  <a:cubicBezTo>
                    <a:pt x="30423" y="0"/>
                    <a:pt x="36540" y="2533"/>
                    <a:pt x="41049" y="7043"/>
                  </a:cubicBezTo>
                  <a:cubicBezTo>
                    <a:pt x="45559" y="11552"/>
                    <a:pt x="48092" y="17669"/>
                    <a:pt x="48092" y="24046"/>
                  </a:cubicBezTo>
                  <a:lnTo>
                    <a:pt x="48092" y="491172"/>
                  </a:lnTo>
                  <a:cubicBezTo>
                    <a:pt x="48092" y="497549"/>
                    <a:pt x="45559" y="503665"/>
                    <a:pt x="41049" y="508175"/>
                  </a:cubicBezTo>
                  <a:cubicBezTo>
                    <a:pt x="36540" y="512684"/>
                    <a:pt x="30423" y="515218"/>
                    <a:pt x="24046" y="515218"/>
                  </a:cubicBezTo>
                  <a:lnTo>
                    <a:pt x="24046" y="515218"/>
                  </a:lnTo>
                  <a:cubicBezTo>
                    <a:pt x="17669" y="515218"/>
                    <a:pt x="11552" y="512684"/>
                    <a:pt x="7043" y="508175"/>
                  </a:cubicBezTo>
                  <a:cubicBezTo>
                    <a:pt x="2533" y="503665"/>
                    <a:pt x="0" y="497549"/>
                    <a:pt x="0" y="491172"/>
                  </a:cubicBezTo>
                  <a:lnTo>
                    <a:pt x="0" y="24046"/>
                  </a:lnTo>
                  <a:cubicBezTo>
                    <a:pt x="0" y="17669"/>
                    <a:pt x="2533" y="11552"/>
                    <a:pt x="7043" y="7043"/>
                  </a:cubicBezTo>
                  <a:cubicBezTo>
                    <a:pt x="11552" y="2533"/>
                    <a:pt x="17669" y="0"/>
                    <a:pt x="240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092" cy="5533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421658" y="5944343"/>
            <a:ext cx="7243945" cy="121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  <a:spcBef>
                <a:spcPct val="0"/>
              </a:spcBef>
            </a:pPr>
            <a:r>
              <a:rPr lang="en-US" b="true" sz="2338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Full-Stack Web Development. Combining modern frontend interfaces with a robust backend for seamless data flow.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29822" y="7774812"/>
            <a:ext cx="9894398" cy="2165915"/>
            <a:chOff x="0" y="0"/>
            <a:chExt cx="2605932" cy="5704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05932" cy="570447"/>
            </a:xfrm>
            <a:custGeom>
              <a:avLst/>
              <a:gdLst/>
              <a:ahLst/>
              <a:cxnLst/>
              <a:rect r="r" b="b" t="t" l="l"/>
              <a:pathLst>
                <a:path h="570447" w="2605932">
                  <a:moveTo>
                    <a:pt x="13302" y="0"/>
                  </a:moveTo>
                  <a:lnTo>
                    <a:pt x="2592630" y="0"/>
                  </a:lnTo>
                  <a:cubicBezTo>
                    <a:pt x="2599976" y="0"/>
                    <a:pt x="2605932" y="5955"/>
                    <a:pt x="2605932" y="13302"/>
                  </a:cubicBezTo>
                  <a:lnTo>
                    <a:pt x="2605932" y="557145"/>
                  </a:lnTo>
                  <a:cubicBezTo>
                    <a:pt x="2605932" y="564491"/>
                    <a:pt x="2599976" y="570447"/>
                    <a:pt x="2592630" y="570447"/>
                  </a:cubicBezTo>
                  <a:lnTo>
                    <a:pt x="13302" y="570447"/>
                  </a:lnTo>
                  <a:cubicBezTo>
                    <a:pt x="5955" y="570447"/>
                    <a:pt x="0" y="564491"/>
                    <a:pt x="0" y="557145"/>
                  </a:cubicBezTo>
                  <a:lnTo>
                    <a:pt x="0" y="13302"/>
                  </a:lnTo>
                  <a:cubicBezTo>
                    <a:pt x="0" y="5955"/>
                    <a:pt x="5955" y="0"/>
                    <a:pt x="1330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605932" cy="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726639" y="7783860"/>
            <a:ext cx="13138935" cy="75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33"/>
              </a:lnSpc>
              <a:spcBef>
                <a:spcPct val="0"/>
              </a:spcBef>
            </a:pPr>
            <a:r>
              <a:rPr lang="en-US" b="true" sz="4381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latin typeface="Roca One Heavy"/>
                <a:ea typeface="Roca One Heavy"/>
                <a:cs typeface="Roca One Heavy"/>
                <a:sym typeface="Roca One Heavy"/>
              </a:rPr>
              <a:t>Key Features 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6639" y="8491723"/>
            <a:ext cx="9497581" cy="127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  <a:spcBef>
                <a:spcPct val="0"/>
              </a:spcBef>
            </a:pPr>
            <a:r>
              <a:rPr lang="en-US" b="true" sz="2461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Feat</a:t>
            </a:r>
            <a:r>
              <a:rPr lang="en-US" b="true" sz="2461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ures include secure role-based login, automated status tracking (Pending/Resolved), and a centralized admin dashboard.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49684" y="7774812"/>
            <a:ext cx="180115" cy="2165915"/>
            <a:chOff x="0" y="0"/>
            <a:chExt cx="47438" cy="5704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438" cy="570447"/>
            </a:xfrm>
            <a:custGeom>
              <a:avLst/>
              <a:gdLst/>
              <a:ahLst/>
              <a:cxnLst/>
              <a:rect r="r" b="b" t="t" l="l"/>
              <a:pathLst>
                <a:path h="570447" w="47438">
                  <a:moveTo>
                    <a:pt x="23719" y="0"/>
                  </a:moveTo>
                  <a:lnTo>
                    <a:pt x="23719" y="0"/>
                  </a:lnTo>
                  <a:cubicBezTo>
                    <a:pt x="36818" y="0"/>
                    <a:pt x="47438" y="10619"/>
                    <a:pt x="47438" y="23719"/>
                  </a:cubicBezTo>
                  <a:lnTo>
                    <a:pt x="47438" y="546728"/>
                  </a:lnTo>
                  <a:cubicBezTo>
                    <a:pt x="47438" y="559828"/>
                    <a:pt x="36818" y="570447"/>
                    <a:pt x="23719" y="570447"/>
                  </a:cubicBezTo>
                  <a:lnTo>
                    <a:pt x="23719" y="570447"/>
                  </a:lnTo>
                  <a:cubicBezTo>
                    <a:pt x="10619" y="570447"/>
                    <a:pt x="0" y="559828"/>
                    <a:pt x="0" y="546728"/>
                  </a:cubicBezTo>
                  <a:lnTo>
                    <a:pt x="0" y="23719"/>
                  </a:lnTo>
                  <a:cubicBezTo>
                    <a:pt x="0" y="10619"/>
                    <a:pt x="10619" y="0"/>
                    <a:pt x="237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7438" cy="6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755667">
            <a:off x="-7356710" y="-2937030"/>
            <a:ext cx="9116630" cy="6686550"/>
            <a:chOff x="0" y="0"/>
            <a:chExt cx="2401088" cy="1761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1088" cy="1761067"/>
            </a:xfrm>
            <a:custGeom>
              <a:avLst/>
              <a:gdLst/>
              <a:ahLst/>
              <a:cxnLst/>
              <a:rect r="r" b="b" t="t" l="l"/>
              <a:pathLst>
                <a:path h="1761067" w="2401088">
                  <a:moveTo>
                    <a:pt x="14437" y="0"/>
                  </a:moveTo>
                  <a:lnTo>
                    <a:pt x="2386651" y="0"/>
                  </a:lnTo>
                  <a:cubicBezTo>
                    <a:pt x="2390480" y="0"/>
                    <a:pt x="2394152" y="1521"/>
                    <a:pt x="2396859" y="4228"/>
                  </a:cubicBezTo>
                  <a:cubicBezTo>
                    <a:pt x="2399567" y="6936"/>
                    <a:pt x="2401088" y="10608"/>
                    <a:pt x="2401088" y="14437"/>
                  </a:cubicBezTo>
                  <a:lnTo>
                    <a:pt x="2401088" y="1746630"/>
                  </a:lnTo>
                  <a:cubicBezTo>
                    <a:pt x="2401088" y="1750459"/>
                    <a:pt x="2399567" y="1754131"/>
                    <a:pt x="2396859" y="1756838"/>
                  </a:cubicBezTo>
                  <a:cubicBezTo>
                    <a:pt x="2394152" y="1759546"/>
                    <a:pt x="2390480" y="1761067"/>
                    <a:pt x="2386651" y="1761067"/>
                  </a:cubicBezTo>
                  <a:lnTo>
                    <a:pt x="14437" y="1761067"/>
                  </a:lnTo>
                  <a:cubicBezTo>
                    <a:pt x="10608" y="1761067"/>
                    <a:pt x="6936" y="1759546"/>
                    <a:pt x="4228" y="1756838"/>
                  </a:cubicBezTo>
                  <a:cubicBezTo>
                    <a:pt x="1521" y="1754131"/>
                    <a:pt x="0" y="1750459"/>
                    <a:pt x="0" y="1746630"/>
                  </a:cubicBezTo>
                  <a:lnTo>
                    <a:pt x="0" y="14437"/>
                  </a:lnTo>
                  <a:cubicBezTo>
                    <a:pt x="0" y="10608"/>
                    <a:pt x="1521" y="6936"/>
                    <a:pt x="4228" y="4228"/>
                  </a:cubicBezTo>
                  <a:cubicBezTo>
                    <a:pt x="6936" y="1521"/>
                    <a:pt x="10608" y="0"/>
                    <a:pt x="144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1088" cy="1799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909" y="444102"/>
            <a:ext cx="7794283" cy="947293"/>
            <a:chOff x="0" y="0"/>
            <a:chExt cx="2052815" cy="2494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2815" cy="249493"/>
            </a:xfrm>
            <a:custGeom>
              <a:avLst/>
              <a:gdLst/>
              <a:ahLst/>
              <a:cxnLst/>
              <a:rect r="r" b="b" t="t" l="l"/>
              <a:pathLst>
                <a:path h="249493" w="2052815">
                  <a:moveTo>
                    <a:pt x="16886" y="0"/>
                  </a:moveTo>
                  <a:lnTo>
                    <a:pt x="2035930" y="0"/>
                  </a:lnTo>
                  <a:cubicBezTo>
                    <a:pt x="2040408" y="0"/>
                    <a:pt x="2044703" y="1779"/>
                    <a:pt x="2047870" y="4946"/>
                  </a:cubicBezTo>
                  <a:cubicBezTo>
                    <a:pt x="2051036" y="8112"/>
                    <a:pt x="2052815" y="12407"/>
                    <a:pt x="2052815" y="16886"/>
                  </a:cubicBezTo>
                  <a:lnTo>
                    <a:pt x="2052815" y="232607"/>
                  </a:lnTo>
                  <a:cubicBezTo>
                    <a:pt x="2052815" y="237085"/>
                    <a:pt x="2051036" y="241380"/>
                    <a:pt x="2047870" y="244547"/>
                  </a:cubicBezTo>
                  <a:cubicBezTo>
                    <a:pt x="2044703" y="247714"/>
                    <a:pt x="2040408" y="249493"/>
                    <a:pt x="2035930" y="249493"/>
                  </a:cubicBezTo>
                  <a:lnTo>
                    <a:pt x="16886" y="249493"/>
                  </a:lnTo>
                  <a:cubicBezTo>
                    <a:pt x="7560" y="249493"/>
                    <a:pt x="0" y="241933"/>
                    <a:pt x="0" y="232607"/>
                  </a:cubicBezTo>
                  <a:lnTo>
                    <a:pt x="0" y="16886"/>
                  </a:lnTo>
                  <a:cubicBezTo>
                    <a:pt x="0" y="7560"/>
                    <a:pt x="7560" y="0"/>
                    <a:pt x="16886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52815" cy="287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1741" y="570755"/>
            <a:ext cx="7182769" cy="82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2"/>
              </a:lnSpc>
              <a:spcBef>
                <a:spcPct val="0"/>
              </a:spcBef>
            </a:pPr>
            <a:r>
              <a:rPr lang="en-US" b="true" sz="4816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PROBLEM</a:t>
            </a:r>
            <a:r>
              <a:rPr lang="en-US" b="true" sz="4816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 STATEMENT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1916" y="2383693"/>
            <a:ext cx="4935923" cy="5726271"/>
            <a:chOff x="0" y="0"/>
            <a:chExt cx="1299996" cy="15081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9996" cy="1508154"/>
            </a:xfrm>
            <a:custGeom>
              <a:avLst/>
              <a:gdLst/>
              <a:ahLst/>
              <a:cxnLst/>
              <a:rect r="r" b="b" t="t" l="l"/>
              <a:pathLst>
                <a:path h="1508154" w="1299996">
                  <a:moveTo>
                    <a:pt x="26664" y="0"/>
                  </a:moveTo>
                  <a:lnTo>
                    <a:pt x="1273332" y="0"/>
                  </a:lnTo>
                  <a:cubicBezTo>
                    <a:pt x="1280404" y="0"/>
                    <a:pt x="1287186" y="2809"/>
                    <a:pt x="1292186" y="7810"/>
                  </a:cubicBezTo>
                  <a:cubicBezTo>
                    <a:pt x="1297187" y="12810"/>
                    <a:pt x="1299996" y="19592"/>
                    <a:pt x="1299996" y="26664"/>
                  </a:cubicBezTo>
                  <a:lnTo>
                    <a:pt x="1299996" y="1481489"/>
                  </a:lnTo>
                  <a:cubicBezTo>
                    <a:pt x="1299996" y="1488561"/>
                    <a:pt x="1297187" y="1495343"/>
                    <a:pt x="1292186" y="1500344"/>
                  </a:cubicBezTo>
                  <a:cubicBezTo>
                    <a:pt x="1287186" y="1505344"/>
                    <a:pt x="1280404" y="1508154"/>
                    <a:pt x="1273332" y="1508154"/>
                  </a:cubicBezTo>
                  <a:lnTo>
                    <a:pt x="26664" y="1508154"/>
                  </a:lnTo>
                  <a:cubicBezTo>
                    <a:pt x="19592" y="1508154"/>
                    <a:pt x="12810" y="1505344"/>
                    <a:pt x="7810" y="1500344"/>
                  </a:cubicBezTo>
                  <a:cubicBezTo>
                    <a:pt x="2809" y="1495343"/>
                    <a:pt x="0" y="1488561"/>
                    <a:pt x="0" y="1481489"/>
                  </a:cubicBezTo>
                  <a:lnTo>
                    <a:pt x="0" y="26664"/>
                  </a:lnTo>
                  <a:cubicBezTo>
                    <a:pt x="0" y="19592"/>
                    <a:pt x="2809" y="12810"/>
                    <a:pt x="7810" y="7810"/>
                  </a:cubicBezTo>
                  <a:cubicBezTo>
                    <a:pt x="12810" y="2809"/>
                    <a:pt x="19592" y="0"/>
                    <a:pt x="26664" y="0"/>
                  </a:cubicBezTo>
                  <a:close/>
                </a:path>
              </a:pathLst>
            </a:custGeom>
            <a:solidFill>
              <a:srgbClr val="000000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99996" cy="1546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1741" y="2524294"/>
            <a:ext cx="4480749" cy="5406562"/>
            <a:chOff x="0" y="0"/>
            <a:chExt cx="1180115" cy="1423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0115" cy="1423950"/>
            </a:xfrm>
            <a:custGeom>
              <a:avLst/>
              <a:gdLst/>
              <a:ahLst/>
              <a:cxnLst/>
              <a:rect r="r" b="b" t="t" l="l"/>
              <a:pathLst>
                <a:path h="1423950" w="1180115">
                  <a:moveTo>
                    <a:pt x="29373" y="0"/>
                  </a:moveTo>
                  <a:lnTo>
                    <a:pt x="1150742" y="0"/>
                  </a:lnTo>
                  <a:cubicBezTo>
                    <a:pt x="1158532" y="0"/>
                    <a:pt x="1166003" y="3095"/>
                    <a:pt x="1171512" y="8603"/>
                  </a:cubicBezTo>
                  <a:cubicBezTo>
                    <a:pt x="1177020" y="14112"/>
                    <a:pt x="1180115" y="21583"/>
                    <a:pt x="1180115" y="29373"/>
                  </a:cubicBezTo>
                  <a:lnTo>
                    <a:pt x="1180115" y="1394577"/>
                  </a:lnTo>
                  <a:cubicBezTo>
                    <a:pt x="1180115" y="1402368"/>
                    <a:pt x="1177020" y="1409839"/>
                    <a:pt x="1171512" y="1415347"/>
                  </a:cubicBezTo>
                  <a:cubicBezTo>
                    <a:pt x="1166003" y="1420856"/>
                    <a:pt x="1158532" y="1423950"/>
                    <a:pt x="1150742" y="1423950"/>
                  </a:cubicBezTo>
                  <a:lnTo>
                    <a:pt x="29373" y="1423950"/>
                  </a:lnTo>
                  <a:cubicBezTo>
                    <a:pt x="21583" y="1423950"/>
                    <a:pt x="14112" y="1420856"/>
                    <a:pt x="8603" y="1415347"/>
                  </a:cubicBezTo>
                  <a:cubicBezTo>
                    <a:pt x="3095" y="1409839"/>
                    <a:pt x="0" y="1402368"/>
                    <a:pt x="0" y="1394577"/>
                  </a:cubicBezTo>
                  <a:lnTo>
                    <a:pt x="0" y="29373"/>
                  </a:lnTo>
                  <a:cubicBezTo>
                    <a:pt x="0" y="21583"/>
                    <a:pt x="3095" y="14112"/>
                    <a:pt x="8603" y="8603"/>
                  </a:cubicBezTo>
                  <a:cubicBezTo>
                    <a:pt x="14112" y="3095"/>
                    <a:pt x="21583" y="0"/>
                    <a:pt x="2937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80115" cy="14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1741" y="2649873"/>
            <a:ext cx="4327023" cy="147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3"/>
              </a:lnSpc>
              <a:spcBef>
                <a:spcPct val="0"/>
              </a:spcBef>
            </a:pPr>
            <a:r>
              <a:rPr lang="en-US" b="true" sz="4252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Manual Inefficiency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0212" y="4304825"/>
            <a:ext cx="4282277" cy="2554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9"/>
              </a:lnSpc>
              <a:spcBef>
                <a:spcPct val="0"/>
              </a:spcBef>
            </a:pPr>
            <a:r>
              <a:rPr lang="en-US" b="true" sz="2921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Traditi</a:t>
            </a:r>
            <a:r>
              <a:rPr lang="en-US" b="true" sz="2921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onal complaint filing relies on physical registers, which are prone to being lost, damaged, or misplaced.</a:t>
            </a:r>
          </a:p>
        </p:txBody>
      </p:sp>
      <p:grpSp>
        <p:nvGrpSpPr>
          <p:cNvPr name="Group 17" id="17"/>
          <p:cNvGrpSpPr/>
          <p:nvPr/>
        </p:nvGrpSpPr>
        <p:grpSpPr>
          <a:xfrm rot="-1242028">
            <a:off x="13193437" y="-2849318"/>
            <a:ext cx="11344063" cy="13645614"/>
            <a:chOff x="0" y="0"/>
            <a:chExt cx="2987737" cy="35939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87737" cy="3593907"/>
            </a:xfrm>
            <a:custGeom>
              <a:avLst/>
              <a:gdLst/>
              <a:ahLst/>
              <a:cxnLst/>
              <a:rect r="r" b="b" t="t" l="l"/>
              <a:pathLst>
                <a:path h="3593907" w="2987737">
                  <a:moveTo>
                    <a:pt x="0" y="0"/>
                  </a:moveTo>
                  <a:lnTo>
                    <a:pt x="2987737" y="0"/>
                  </a:lnTo>
                  <a:lnTo>
                    <a:pt x="2987737" y="3593907"/>
                  </a:lnTo>
                  <a:lnTo>
                    <a:pt x="0" y="3593907"/>
                  </a:lnTo>
                  <a:close/>
                </a:path>
              </a:pathLst>
            </a:custGeom>
            <a:gradFill rotWithShape="true">
              <a:gsLst>
                <a:gs pos="0">
                  <a:srgbClr val="89D957">
                    <a:alpha val="100000"/>
                  </a:srgbClr>
                </a:gs>
                <a:gs pos="100000">
                  <a:srgbClr val="C9E26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987737" cy="3632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88040" y="5371494"/>
            <a:ext cx="5845964" cy="3754014"/>
            <a:chOff x="0" y="0"/>
            <a:chExt cx="1539678" cy="9887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39678" cy="988711"/>
            </a:xfrm>
            <a:custGeom>
              <a:avLst/>
              <a:gdLst/>
              <a:ahLst/>
              <a:cxnLst/>
              <a:rect r="r" b="b" t="t" l="l"/>
              <a:pathLst>
                <a:path h="988711" w="1539678">
                  <a:moveTo>
                    <a:pt x="22513" y="0"/>
                  </a:moveTo>
                  <a:lnTo>
                    <a:pt x="1517164" y="0"/>
                  </a:lnTo>
                  <a:cubicBezTo>
                    <a:pt x="1523135" y="0"/>
                    <a:pt x="1528862" y="2372"/>
                    <a:pt x="1533084" y="6594"/>
                  </a:cubicBezTo>
                  <a:cubicBezTo>
                    <a:pt x="1537306" y="10816"/>
                    <a:pt x="1539678" y="16542"/>
                    <a:pt x="1539678" y="22513"/>
                  </a:cubicBezTo>
                  <a:lnTo>
                    <a:pt x="1539678" y="966198"/>
                  </a:lnTo>
                  <a:cubicBezTo>
                    <a:pt x="1539678" y="972169"/>
                    <a:pt x="1537306" y="977895"/>
                    <a:pt x="1533084" y="982117"/>
                  </a:cubicBezTo>
                  <a:cubicBezTo>
                    <a:pt x="1528862" y="986340"/>
                    <a:pt x="1523135" y="988711"/>
                    <a:pt x="1517164" y="988711"/>
                  </a:cubicBezTo>
                  <a:lnTo>
                    <a:pt x="22513" y="988711"/>
                  </a:lnTo>
                  <a:cubicBezTo>
                    <a:pt x="16542" y="988711"/>
                    <a:pt x="10816" y="986340"/>
                    <a:pt x="6594" y="982117"/>
                  </a:cubicBezTo>
                  <a:cubicBezTo>
                    <a:pt x="2372" y="977895"/>
                    <a:pt x="0" y="972169"/>
                    <a:pt x="0" y="966198"/>
                  </a:cubicBezTo>
                  <a:lnTo>
                    <a:pt x="0" y="22513"/>
                  </a:lnTo>
                  <a:cubicBezTo>
                    <a:pt x="0" y="16542"/>
                    <a:pt x="2372" y="10816"/>
                    <a:pt x="6594" y="6594"/>
                  </a:cubicBezTo>
                  <a:cubicBezTo>
                    <a:pt x="10816" y="2372"/>
                    <a:pt x="16542" y="0"/>
                    <a:pt x="22513" y="0"/>
                  </a:cubicBezTo>
                  <a:close/>
                </a:path>
              </a:pathLst>
            </a:custGeom>
            <a:solidFill>
              <a:srgbClr val="000000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39678" cy="1026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04751" y="917748"/>
            <a:ext cx="6830655" cy="3621160"/>
            <a:chOff x="0" y="0"/>
            <a:chExt cx="1799020" cy="9537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99020" cy="953721"/>
            </a:xfrm>
            <a:custGeom>
              <a:avLst/>
              <a:gdLst/>
              <a:ahLst/>
              <a:cxnLst/>
              <a:rect r="r" b="b" t="t" l="l"/>
              <a:pathLst>
                <a:path h="953721" w="1799020">
                  <a:moveTo>
                    <a:pt x="19268" y="0"/>
                  </a:moveTo>
                  <a:lnTo>
                    <a:pt x="1779752" y="0"/>
                  </a:lnTo>
                  <a:cubicBezTo>
                    <a:pt x="1790394" y="0"/>
                    <a:pt x="1799020" y="8627"/>
                    <a:pt x="1799020" y="19268"/>
                  </a:cubicBezTo>
                  <a:lnTo>
                    <a:pt x="1799020" y="934453"/>
                  </a:lnTo>
                  <a:cubicBezTo>
                    <a:pt x="1799020" y="945095"/>
                    <a:pt x="1790394" y="953721"/>
                    <a:pt x="1779752" y="953721"/>
                  </a:cubicBezTo>
                  <a:lnTo>
                    <a:pt x="19268" y="953721"/>
                  </a:lnTo>
                  <a:cubicBezTo>
                    <a:pt x="8627" y="953721"/>
                    <a:pt x="0" y="945095"/>
                    <a:pt x="0" y="934453"/>
                  </a:cubicBezTo>
                  <a:lnTo>
                    <a:pt x="0" y="19268"/>
                  </a:lnTo>
                  <a:cubicBezTo>
                    <a:pt x="0" y="8627"/>
                    <a:pt x="8627" y="0"/>
                    <a:pt x="19268" y="0"/>
                  </a:cubicBezTo>
                  <a:close/>
                </a:path>
              </a:pathLst>
            </a:custGeom>
            <a:solidFill>
              <a:srgbClr val="000000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99020" cy="9918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23114" y="2383693"/>
            <a:ext cx="4733853" cy="5726271"/>
            <a:chOff x="0" y="0"/>
            <a:chExt cx="1246776" cy="15081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6776" cy="1508154"/>
            </a:xfrm>
            <a:custGeom>
              <a:avLst/>
              <a:gdLst/>
              <a:ahLst/>
              <a:cxnLst/>
              <a:rect r="r" b="b" t="t" l="l"/>
              <a:pathLst>
                <a:path h="1508154" w="1246776">
                  <a:moveTo>
                    <a:pt x="27802" y="0"/>
                  </a:moveTo>
                  <a:lnTo>
                    <a:pt x="1218974" y="0"/>
                  </a:lnTo>
                  <a:cubicBezTo>
                    <a:pt x="1234329" y="0"/>
                    <a:pt x="1246776" y="12448"/>
                    <a:pt x="1246776" y="27802"/>
                  </a:cubicBezTo>
                  <a:lnTo>
                    <a:pt x="1246776" y="1480351"/>
                  </a:lnTo>
                  <a:cubicBezTo>
                    <a:pt x="1246776" y="1495706"/>
                    <a:pt x="1234329" y="1508154"/>
                    <a:pt x="1218974" y="1508154"/>
                  </a:cubicBezTo>
                  <a:lnTo>
                    <a:pt x="27802" y="1508154"/>
                  </a:lnTo>
                  <a:cubicBezTo>
                    <a:pt x="12448" y="1508154"/>
                    <a:pt x="0" y="1495706"/>
                    <a:pt x="0" y="1480351"/>
                  </a:cubicBezTo>
                  <a:lnTo>
                    <a:pt x="0" y="27802"/>
                  </a:lnTo>
                  <a:cubicBezTo>
                    <a:pt x="0" y="12448"/>
                    <a:pt x="12448" y="0"/>
                    <a:pt x="27802" y="0"/>
                  </a:cubicBezTo>
                  <a:close/>
                </a:path>
              </a:pathLst>
            </a:custGeom>
            <a:solidFill>
              <a:srgbClr val="000000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46776" cy="1546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300978" y="2543547"/>
            <a:ext cx="4390428" cy="5406562"/>
            <a:chOff x="0" y="0"/>
            <a:chExt cx="1156327" cy="14239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6327" cy="1423950"/>
            </a:xfrm>
            <a:custGeom>
              <a:avLst/>
              <a:gdLst/>
              <a:ahLst/>
              <a:cxnLst/>
              <a:rect r="r" b="b" t="t" l="l"/>
              <a:pathLst>
                <a:path h="1423950" w="1156327">
                  <a:moveTo>
                    <a:pt x="29977" y="0"/>
                  </a:moveTo>
                  <a:lnTo>
                    <a:pt x="1126350" y="0"/>
                  </a:lnTo>
                  <a:cubicBezTo>
                    <a:pt x="1142906" y="0"/>
                    <a:pt x="1156327" y="13421"/>
                    <a:pt x="1156327" y="29977"/>
                  </a:cubicBezTo>
                  <a:lnTo>
                    <a:pt x="1156327" y="1393973"/>
                  </a:lnTo>
                  <a:cubicBezTo>
                    <a:pt x="1156327" y="1410529"/>
                    <a:pt x="1142906" y="1423950"/>
                    <a:pt x="1126350" y="1423950"/>
                  </a:cubicBezTo>
                  <a:lnTo>
                    <a:pt x="29977" y="1423950"/>
                  </a:lnTo>
                  <a:cubicBezTo>
                    <a:pt x="13421" y="1423950"/>
                    <a:pt x="0" y="1410529"/>
                    <a:pt x="0" y="1393973"/>
                  </a:cubicBezTo>
                  <a:lnTo>
                    <a:pt x="0" y="29977"/>
                  </a:lnTo>
                  <a:cubicBezTo>
                    <a:pt x="0" y="13421"/>
                    <a:pt x="13421" y="0"/>
                    <a:pt x="299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56327" cy="1462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487054" y="2588087"/>
            <a:ext cx="4369913" cy="153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3"/>
              </a:lnSpc>
              <a:spcBef>
                <a:spcPct val="0"/>
              </a:spcBef>
            </a:pPr>
            <a:r>
              <a:rPr lang="en-US" b="true" sz="4445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Lack </a:t>
            </a:r>
            <a:r>
              <a:rPr lang="en-US" b="true" sz="4445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of Transparency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07868" y="4142714"/>
            <a:ext cx="3976648" cy="358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2"/>
              </a:lnSpc>
              <a:spcBef>
                <a:spcPct val="0"/>
              </a:spcBef>
            </a:pPr>
            <a:r>
              <a:rPr lang="en-US" b="true" sz="2930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There is no way for a user to know if their complaint has been seen, assigned, or resolved in the current manual system.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186706" y="1082133"/>
            <a:ext cx="6496676" cy="3287879"/>
            <a:chOff x="0" y="0"/>
            <a:chExt cx="1711059" cy="8659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1059" cy="865944"/>
            </a:xfrm>
            <a:custGeom>
              <a:avLst/>
              <a:gdLst/>
              <a:ahLst/>
              <a:cxnLst/>
              <a:rect r="r" b="b" t="t" l="l"/>
              <a:pathLst>
                <a:path h="865944" w="1711059">
                  <a:moveTo>
                    <a:pt x="20258" y="0"/>
                  </a:moveTo>
                  <a:lnTo>
                    <a:pt x="1690800" y="0"/>
                  </a:lnTo>
                  <a:cubicBezTo>
                    <a:pt x="1701989" y="0"/>
                    <a:pt x="1711059" y="9070"/>
                    <a:pt x="1711059" y="20258"/>
                  </a:cubicBezTo>
                  <a:lnTo>
                    <a:pt x="1711059" y="845685"/>
                  </a:lnTo>
                  <a:cubicBezTo>
                    <a:pt x="1711059" y="851058"/>
                    <a:pt x="1708924" y="856211"/>
                    <a:pt x="1705125" y="860010"/>
                  </a:cubicBezTo>
                  <a:cubicBezTo>
                    <a:pt x="1701326" y="863809"/>
                    <a:pt x="1696173" y="865944"/>
                    <a:pt x="1690800" y="865944"/>
                  </a:cubicBezTo>
                  <a:lnTo>
                    <a:pt x="20258" y="865944"/>
                  </a:lnTo>
                  <a:cubicBezTo>
                    <a:pt x="14886" y="865944"/>
                    <a:pt x="9733" y="863809"/>
                    <a:pt x="5934" y="860010"/>
                  </a:cubicBezTo>
                  <a:cubicBezTo>
                    <a:pt x="2134" y="856211"/>
                    <a:pt x="0" y="851058"/>
                    <a:pt x="0" y="845685"/>
                  </a:cubicBezTo>
                  <a:lnTo>
                    <a:pt x="0" y="20258"/>
                  </a:lnTo>
                  <a:cubicBezTo>
                    <a:pt x="0" y="14886"/>
                    <a:pt x="2134" y="9733"/>
                    <a:pt x="5934" y="5934"/>
                  </a:cubicBezTo>
                  <a:cubicBezTo>
                    <a:pt x="9733" y="2134"/>
                    <a:pt x="14886" y="0"/>
                    <a:pt x="2025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711059" cy="904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588040" y="1315195"/>
            <a:ext cx="4445000" cy="744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4"/>
              </a:lnSpc>
              <a:spcBef>
                <a:spcPct val="0"/>
              </a:spcBef>
            </a:pPr>
            <a:r>
              <a:rPr lang="en-US" b="true" sz="4424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Sl</a:t>
            </a:r>
            <a:r>
              <a:rPr lang="en-US" b="true" sz="4424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ow Resolution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81249" y="2199871"/>
            <a:ext cx="6161285" cy="2040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C</a:t>
            </a:r>
            <a:r>
              <a:rPr lang="en-US" b="true" sz="2899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ommunication between departments is slow, leading to long delays in fixing simple campus issues.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801726" y="5550983"/>
            <a:ext cx="5457574" cy="3404648"/>
            <a:chOff x="0" y="0"/>
            <a:chExt cx="1437386" cy="8966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37386" cy="896697"/>
            </a:xfrm>
            <a:custGeom>
              <a:avLst/>
              <a:gdLst/>
              <a:ahLst/>
              <a:cxnLst/>
              <a:rect r="r" b="b" t="t" l="l"/>
              <a:pathLst>
                <a:path h="896697" w="1437386">
                  <a:moveTo>
                    <a:pt x="24116" y="0"/>
                  </a:moveTo>
                  <a:lnTo>
                    <a:pt x="1413270" y="0"/>
                  </a:lnTo>
                  <a:cubicBezTo>
                    <a:pt x="1419666" y="0"/>
                    <a:pt x="1425800" y="2541"/>
                    <a:pt x="1430322" y="7063"/>
                  </a:cubicBezTo>
                  <a:cubicBezTo>
                    <a:pt x="1434845" y="11586"/>
                    <a:pt x="1437386" y="17720"/>
                    <a:pt x="1437386" y="24116"/>
                  </a:cubicBezTo>
                  <a:lnTo>
                    <a:pt x="1437386" y="872582"/>
                  </a:lnTo>
                  <a:cubicBezTo>
                    <a:pt x="1437386" y="885900"/>
                    <a:pt x="1426589" y="896697"/>
                    <a:pt x="1413270" y="896697"/>
                  </a:cubicBezTo>
                  <a:lnTo>
                    <a:pt x="24116" y="896697"/>
                  </a:lnTo>
                  <a:cubicBezTo>
                    <a:pt x="17720" y="896697"/>
                    <a:pt x="11586" y="894157"/>
                    <a:pt x="7063" y="889634"/>
                  </a:cubicBezTo>
                  <a:cubicBezTo>
                    <a:pt x="2541" y="885112"/>
                    <a:pt x="0" y="878978"/>
                    <a:pt x="0" y="872582"/>
                  </a:cubicBezTo>
                  <a:lnTo>
                    <a:pt x="0" y="24116"/>
                  </a:lnTo>
                  <a:cubicBezTo>
                    <a:pt x="0" y="17720"/>
                    <a:pt x="2541" y="11586"/>
                    <a:pt x="7063" y="7063"/>
                  </a:cubicBezTo>
                  <a:cubicBezTo>
                    <a:pt x="11586" y="2541"/>
                    <a:pt x="17720" y="0"/>
                    <a:pt x="2411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437386" cy="934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967437" y="5776832"/>
            <a:ext cx="5126152" cy="76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3"/>
              </a:lnSpc>
              <a:spcBef>
                <a:spcPct val="0"/>
              </a:spcBef>
            </a:pPr>
            <a:r>
              <a:rPr lang="en-US" b="true" sz="4473">
                <a:solidFill>
                  <a:srgbClr val="FFC700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Data Vulnerability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967437" y="6876444"/>
            <a:ext cx="5126152" cy="165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3"/>
              </a:lnSpc>
              <a:spcBef>
                <a:spcPct val="0"/>
              </a:spcBef>
            </a:pPr>
            <a:r>
              <a:rPr lang="en-US" b="true" sz="2395">
                <a:solidFill>
                  <a:srgbClr val="FFFFFF"/>
                </a:solidFill>
                <a:latin typeface="Roca One Heavy"/>
                <a:ea typeface="Roca One Heavy"/>
                <a:cs typeface="Roca One Heavy"/>
                <a:sym typeface="Roca One Heavy"/>
              </a:rPr>
              <a:t>No backup of records exists, making it impossible to generate monthly analysis reports for college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07853" y="-587178"/>
            <a:ext cx="10611693" cy="11461356"/>
            <a:chOff x="0" y="0"/>
            <a:chExt cx="2794849" cy="30186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849" cy="3018629"/>
            </a:xfrm>
            <a:custGeom>
              <a:avLst/>
              <a:gdLst/>
              <a:ahLst/>
              <a:cxnLst/>
              <a:rect r="r" b="b" t="t" l="l"/>
              <a:pathLst>
                <a:path h="3018629" w="2794849">
                  <a:moveTo>
                    <a:pt x="0" y="0"/>
                  </a:moveTo>
                  <a:lnTo>
                    <a:pt x="2794849" y="0"/>
                  </a:lnTo>
                  <a:lnTo>
                    <a:pt x="2794849" y="3018629"/>
                  </a:lnTo>
                  <a:lnTo>
                    <a:pt x="0" y="301862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849" cy="305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2390" y="155897"/>
            <a:ext cx="5478208" cy="119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86"/>
              </a:lnSpc>
              <a:spcBef>
                <a:spcPct val="0"/>
              </a:spcBef>
            </a:pPr>
            <a:r>
              <a:rPr lang="en-US" b="true" sz="699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143884"/>
            <a:ext cx="6654182" cy="7114416"/>
            <a:chOff x="0" y="0"/>
            <a:chExt cx="1752542" cy="18737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2542" cy="1873756"/>
            </a:xfrm>
            <a:custGeom>
              <a:avLst/>
              <a:gdLst/>
              <a:ahLst/>
              <a:cxnLst/>
              <a:rect r="r" b="b" t="t" l="l"/>
              <a:pathLst>
                <a:path h="1873756" w="1752542">
                  <a:moveTo>
                    <a:pt x="19779" y="0"/>
                  </a:moveTo>
                  <a:lnTo>
                    <a:pt x="1732763" y="0"/>
                  </a:lnTo>
                  <a:cubicBezTo>
                    <a:pt x="1743686" y="0"/>
                    <a:pt x="1752542" y="8855"/>
                    <a:pt x="1752542" y="19779"/>
                  </a:cubicBezTo>
                  <a:lnTo>
                    <a:pt x="1752542" y="1853977"/>
                  </a:lnTo>
                  <a:cubicBezTo>
                    <a:pt x="1752542" y="1864901"/>
                    <a:pt x="1743686" y="1873756"/>
                    <a:pt x="1732763" y="1873756"/>
                  </a:cubicBezTo>
                  <a:lnTo>
                    <a:pt x="19779" y="1873756"/>
                  </a:lnTo>
                  <a:cubicBezTo>
                    <a:pt x="8855" y="1873756"/>
                    <a:pt x="0" y="1864901"/>
                    <a:pt x="0" y="1853977"/>
                  </a:cubicBezTo>
                  <a:lnTo>
                    <a:pt x="0" y="19779"/>
                  </a:lnTo>
                  <a:cubicBezTo>
                    <a:pt x="0" y="8855"/>
                    <a:pt x="8855" y="0"/>
                    <a:pt x="1977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52542" cy="19118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74142" y="2434545"/>
            <a:ext cx="9108604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</a:t>
            </a:r>
            <a:r>
              <a:rPr lang="en-US" sz="5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hnical Goals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635121"/>
            <a:ext cx="6227733" cy="4615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106" indent="-317553" lvl="1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Automation: To digitize the manual complaint registration process, eliminating paperwork and human error.</a:t>
            </a:r>
          </a:p>
          <a:p>
            <a:pPr algn="l" marL="635106" indent="-317553" lvl="1">
              <a:lnSpc>
                <a:spcPts val="4118"/>
              </a:lnSpc>
              <a:buFont typeface="Arial"/>
              <a:buChar char="•"/>
            </a:pPr>
            <a:r>
              <a:rPr lang="en-US" sz="29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Centralization: To maintain a secure, organized MySQL database for all institutional records and history.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91272" y="1811613"/>
            <a:ext cx="6890454" cy="6215488"/>
            <a:chOff x="0" y="0"/>
            <a:chExt cx="1814770" cy="16370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4770" cy="1637001"/>
            </a:xfrm>
            <a:custGeom>
              <a:avLst/>
              <a:gdLst/>
              <a:ahLst/>
              <a:cxnLst/>
              <a:rect r="r" b="b" t="t" l="l"/>
              <a:pathLst>
                <a:path h="1637001" w="1814770">
                  <a:moveTo>
                    <a:pt x="19101" y="0"/>
                  </a:moveTo>
                  <a:lnTo>
                    <a:pt x="1795669" y="0"/>
                  </a:lnTo>
                  <a:cubicBezTo>
                    <a:pt x="1806218" y="0"/>
                    <a:pt x="1814770" y="8552"/>
                    <a:pt x="1814770" y="19101"/>
                  </a:cubicBezTo>
                  <a:lnTo>
                    <a:pt x="1814770" y="1617900"/>
                  </a:lnTo>
                  <a:cubicBezTo>
                    <a:pt x="1814770" y="1628449"/>
                    <a:pt x="1806218" y="1637001"/>
                    <a:pt x="1795669" y="1637001"/>
                  </a:cubicBezTo>
                  <a:lnTo>
                    <a:pt x="19101" y="1637001"/>
                  </a:lnTo>
                  <a:cubicBezTo>
                    <a:pt x="8552" y="1637001"/>
                    <a:pt x="0" y="1628449"/>
                    <a:pt x="0" y="1617900"/>
                  </a:cubicBezTo>
                  <a:lnTo>
                    <a:pt x="0" y="19101"/>
                  </a:lnTo>
                  <a:cubicBezTo>
                    <a:pt x="0" y="8552"/>
                    <a:pt x="8552" y="0"/>
                    <a:pt x="19101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14770" cy="167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890694" y="2026874"/>
            <a:ext cx="6491610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</a:t>
            </a:r>
            <a:r>
              <a:rPr lang="en-US" sz="5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r-Centric Goals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6511" y="3297513"/>
            <a:ext cx="6691032" cy="432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217" indent="-330609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Transparency: T</a:t>
            </a:r>
            <a:r>
              <a:rPr lang="en-US" sz="3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provide users with real-time tracking of their grievance status (Pending to Resolved).</a:t>
            </a:r>
          </a:p>
          <a:p>
            <a:pPr algn="l" marL="661217" indent="-330609" lvl="1">
              <a:lnSpc>
                <a:spcPts val="4287"/>
              </a:lnSpc>
              <a:buFont typeface="Arial"/>
              <a:buChar char="•"/>
            </a:pPr>
            <a:r>
              <a:rPr lang="en-US" sz="306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Efficiency: To bridge the communication gap between students and management for faster response times.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7077" y="516254"/>
            <a:ext cx="11569857" cy="92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EXISTING SYSTEM &amp; LIMITATIONS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550472" y="3533299"/>
            <a:ext cx="5408764" cy="1037652"/>
            <a:chOff x="0" y="0"/>
            <a:chExt cx="1424531" cy="2732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4530" cy="273291"/>
            </a:xfrm>
            <a:custGeom>
              <a:avLst/>
              <a:gdLst/>
              <a:ahLst/>
              <a:cxnLst/>
              <a:rect r="r" b="b" t="t" l="l"/>
              <a:pathLst>
                <a:path h="273291" w="1424530">
                  <a:moveTo>
                    <a:pt x="24333" y="0"/>
                  </a:moveTo>
                  <a:lnTo>
                    <a:pt x="1400197" y="0"/>
                  </a:lnTo>
                  <a:cubicBezTo>
                    <a:pt x="1406651" y="0"/>
                    <a:pt x="1412840" y="2564"/>
                    <a:pt x="1417404" y="7127"/>
                  </a:cubicBezTo>
                  <a:cubicBezTo>
                    <a:pt x="1421967" y="11690"/>
                    <a:pt x="1424530" y="17880"/>
                    <a:pt x="1424530" y="24333"/>
                  </a:cubicBezTo>
                  <a:lnTo>
                    <a:pt x="1424530" y="248958"/>
                  </a:lnTo>
                  <a:cubicBezTo>
                    <a:pt x="1424530" y="262397"/>
                    <a:pt x="1413636" y="273291"/>
                    <a:pt x="1400197" y="273291"/>
                  </a:cubicBezTo>
                  <a:lnTo>
                    <a:pt x="24333" y="273291"/>
                  </a:lnTo>
                  <a:cubicBezTo>
                    <a:pt x="10894" y="273291"/>
                    <a:pt x="0" y="262397"/>
                    <a:pt x="0" y="248958"/>
                  </a:cubicBezTo>
                  <a:lnTo>
                    <a:pt x="0" y="24333"/>
                  </a:lnTo>
                  <a:cubicBezTo>
                    <a:pt x="0" y="10894"/>
                    <a:pt x="10894" y="0"/>
                    <a:pt x="2433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4531" cy="311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79632" y="1902386"/>
            <a:ext cx="15979668" cy="83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5"/>
              </a:lnSpc>
              <a:spcBef>
                <a:spcPct val="0"/>
              </a:spcBef>
            </a:pPr>
            <a:r>
              <a:rPr lang="en-US" b="true" sz="24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current manual grievance process is built on a legacy paper-based framework that suffers from several critical bottlenecks and inefficiencies such as :-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1624" y="3865256"/>
            <a:ext cx="5141678" cy="999842"/>
            <a:chOff x="0" y="0"/>
            <a:chExt cx="1354187" cy="263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4187" cy="263333"/>
            </a:xfrm>
            <a:custGeom>
              <a:avLst/>
              <a:gdLst/>
              <a:ahLst/>
              <a:cxnLst/>
              <a:rect r="r" b="b" t="t" l="l"/>
              <a:pathLst>
                <a:path h="263333" w="1354187">
                  <a:moveTo>
                    <a:pt x="25597" y="0"/>
                  </a:moveTo>
                  <a:lnTo>
                    <a:pt x="1328590" y="0"/>
                  </a:lnTo>
                  <a:cubicBezTo>
                    <a:pt x="1342727" y="0"/>
                    <a:pt x="1354187" y="11460"/>
                    <a:pt x="1354187" y="25597"/>
                  </a:cubicBezTo>
                  <a:lnTo>
                    <a:pt x="1354187" y="237736"/>
                  </a:lnTo>
                  <a:cubicBezTo>
                    <a:pt x="1354187" y="251872"/>
                    <a:pt x="1342727" y="263333"/>
                    <a:pt x="1328590" y="263333"/>
                  </a:cubicBezTo>
                  <a:lnTo>
                    <a:pt x="25597" y="263333"/>
                  </a:lnTo>
                  <a:cubicBezTo>
                    <a:pt x="11460" y="263333"/>
                    <a:pt x="0" y="251872"/>
                    <a:pt x="0" y="237736"/>
                  </a:cubicBezTo>
                  <a:lnTo>
                    <a:pt x="0" y="25597"/>
                  </a:lnTo>
                  <a:cubicBezTo>
                    <a:pt x="0" y="11460"/>
                    <a:pt x="11460" y="0"/>
                    <a:pt x="2559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54187" cy="30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1897" y="3985450"/>
            <a:ext cx="4773515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</a:t>
            </a:r>
            <a:r>
              <a:rPr lang="en-US" sz="3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ual Recording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73660" y="4146639"/>
            <a:ext cx="4313311" cy="1014921"/>
            <a:chOff x="0" y="0"/>
            <a:chExt cx="1136016" cy="2673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6016" cy="267304"/>
            </a:xfrm>
            <a:custGeom>
              <a:avLst/>
              <a:gdLst/>
              <a:ahLst/>
              <a:cxnLst/>
              <a:rect r="r" b="b" t="t" l="l"/>
              <a:pathLst>
                <a:path h="267304" w="1136016">
                  <a:moveTo>
                    <a:pt x="30513" y="0"/>
                  </a:moveTo>
                  <a:lnTo>
                    <a:pt x="1105503" y="0"/>
                  </a:lnTo>
                  <a:cubicBezTo>
                    <a:pt x="1122355" y="0"/>
                    <a:pt x="1136016" y="13661"/>
                    <a:pt x="1136016" y="30513"/>
                  </a:cubicBezTo>
                  <a:lnTo>
                    <a:pt x="1136016" y="236791"/>
                  </a:lnTo>
                  <a:cubicBezTo>
                    <a:pt x="1136016" y="253643"/>
                    <a:pt x="1122355" y="267304"/>
                    <a:pt x="1105503" y="267304"/>
                  </a:cubicBezTo>
                  <a:lnTo>
                    <a:pt x="30513" y="267304"/>
                  </a:lnTo>
                  <a:cubicBezTo>
                    <a:pt x="22421" y="267304"/>
                    <a:pt x="14659" y="264089"/>
                    <a:pt x="8937" y="258367"/>
                  </a:cubicBezTo>
                  <a:cubicBezTo>
                    <a:pt x="3215" y="252645"/>
                    <a:pt x="0" y="244884"/>
                    <a:pt x="0" y="236791"/>
                  </a:cubicBezTo>
                  <a:lnTo>
                    <a:pt x="0" y="30513"/>
                  </a:lnTo>
                  <a:cubicBezTo>
                    <a:pt x="0" y="13661"/>
                    <a:pt x="13661" y="0"/>
                    <a:pt x="3051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36016" cy="305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233265" y="4286992"/>
            <a:ext cx="3594100" cy="64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6"/>
              </a:lnSpc>
              <a:spcBef>
                <a:spcPct val="0"/>
              </a:spcBef>
            </a:pPr>
            <a:r>
              <a:rPr lang="en-US" sz="3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Lack </a:t>
            </a:r>
            <a:r>
              <a:rPr lang="en-US" sz="3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 Tracking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92361" y="5533581"/>
            <a:ext cx="5032043" cy="2227052"/>
            <a:chOff x="0" y="0"/>
            <a:chExt cx="1325312" cy="5865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5312" cy="586549"/>
            </a:xfrm>
            <a:custGeom>
              <a:avLst/>
              <a:gdLst/>
              <a:ahLst/>
              <a:cxnLst/>
              <a:rect r="r" b="b" t="t" l="l"/>
              <a:pathLst>
                <a:path h="586549" w="1325312">
                  <a:moveTo>
                    <a:pt x="26155" y="0"/>
                  </a:moveTo>
                  <a:lnTo>
                    <a:pt x="1299157" y="0"/>
                  </a:lnTo>
                  <a:cubicBezTo>
                    <a:pt x="1306094" y="0"/>
                    <a:pt x="1312746" y="2756"/>
                    <a:pt x="1317651" y="7661"/>
                  </a:cubicBezTo>
                  <a:cubicBezTo>
                    <a:pt x="1322556" y="12566"/>
                    <a:pt x="1325312" y="19218"/>
                    <a:pt x="1325312" y="26155"/>
                  </a:cubicBezTo>
                  <a:lnTo>
                    <a:pt x="1325312" y="560394"/>
                  </a:lnTo>
                  <a:cubicBezTo>
                    <a:pt x="1325312" y="574839"/>
                    <a:pt x="1313602" y="586549"/>
                    <a:pt x="1299157" y="586549"/>
                  </a:cubicBezTo>
                  <a:lnTo>
                    <a:pt x="26155" y="586549"/>
                  </a:lnTo>
                  <a:cubicBezTo>
                    <a:pt x="19218" y="586549"/>
                    <a:pt x="12566" y="583793"/>
                    <a:pt x="7661" y="578888"/>
                  </a:cubicBezTo>
                  <a:cubicBezTo>
                    <a:pt x="2756" y="573983"/>
                    <a:pt x="0" y="567331"/>
                    <a:pt x="0" y="560394"/>
                  </a:cubicBezTo>
                  <a:lnTo>
                    <a:pt x="0" y="26155"/>
                  </a:lnTo>
                  <a:cubicBezTo>
                    <a:pt x="0" y="11710"/>
                    <a:pt x="11710" y="0"/>
                    <a:pt x="2615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5312" cy="624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34349" y="5690797"/>
            <a:ext cx="5070234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 live updates. Users must physically visit offices to check the current status of their complaints..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14275" y="3703903"/>
            <a:ext cx="4813300" cy="62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Slow Communication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550472" y="4935482"/>
            <a:ext cx="5340907" cy="2469707"/>
            <a:chOff x="0" y="0"/>
            <a:chExt cx="1406659" cy="6504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6659" cy="650458"/>
            </a:xfrm>
            <a:custGeom>
              <a:avLst/>
              <a:gdLst/>
              <a:ahLst/>
              <a:cxnLst/>
              <a:rect r="r" b="b" t="t" l="l"/>
              <a:pathLst>
                <a:path h="650458" w="1406659">
                  <a:moveTo>
                    <a:pt x="24642" y="0"/>
                  </a:moveTo>
                  <a:lnTo>
                    <a:pt x="1382016" y="0"/>
                  </a:lnTo>
                  <a:cubicBezTo>
                    <a:pt x="1388552" y="0"/>
                    <a:pt x="1394820" y="2596"/>
                    <a:pt x="1399441" y="7218"/>
                  </a:cubicBezTo>
                  <a:cubicBezTo>
                    <a:pt x="1404062" y="11839"/>
                    <a:pt x="1406659" y="18107"/>
                    <a:pt x="1406659" y="24642"/>
                  </a:cubicBezTo>
                  <a:lnTo>
                    <a:pt x="1406659" y="625815"/>
                  </a:lnTo>
                  <a:cubicBezTo>
                    <a:pt x="1406659" y="632351"/>
                    <a:pt x="1404062" y="638619"/>
                    <a:pt x="1399441" y="643240"/>
                  </a:cubicBezTo>
                  <a:cubicBezTo>
                    <a:pt x="1394820" y="647861"/>
                    <a:pt x="1388552" y="650458"/>
                    <a:pt x="1382016" y="650458"/>
                  </a:cubicBezTo>
                  <a:lnTo>
                    <a:pt x="24642" y="650458"/>
                  </a:lnTo>
                  <a:cubicBezTo>
                    <a:pt x="18107" y="650458"/>
                    <a:pt x="11839" y="647861"/>
                    <a:pt x="7218" y="643240"/>
                  </a:cubicBezTo>
                  <a:cubicBezTo>
                    <a:pt x="2596" y="638619"/>
                    <a:pt x="0" y="632351"/>
                    <a:pt x="0" y="625815"/>
                  </a:cubicBezTo>
                  <a:lnTo>
                    <a:pt x="0" y="24642"/>
                  </a:lnTo>
                  <a:cubicBezTo>
                    <a:pt x="0" y="18107"/>
                    <a:pt x="2596" y="11839"/>
                    <a:pt x="7218" y="7218"/>
                  </a:cubicBezTo>
                  <a:cubicBezTo>
                    <a:pt x="11839" y="2596"/>
                    <a:pt x="18107" y="0"/>
                    <a:pt x="2464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06659" cy="688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723065" y="5104410"/>
            <a:ext cx="5101702" cy="189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Information travels via paper slips between departments, causing massive delays in resolving issues.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71624" y="5728897"/>
            <a:ext cx="5141678" cy="2160023"/>
            <a:chOff x="0" y="0"/>
            <a:chExt cx="1354187" cy="5688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54187" cy="568895"/>
            </a:xfrm>
            <a:custGeom>
              <a:avLst/>
              <a:gdLst/>
              <a:ahLst/>
              <a:cxnLst/>
              <a:rect r="r" b="b" t="t" l="l"/>
              <a:pathLst>
                <a:path h="568895" w="1354187">
                  <a:moveTo>
                    <a:pt x="25597" y="0"/>
                  </a:moveTo>
                  <a:lnTo>
                    <a:pt x="1328590" y="0"/>
                  </a:lnTo>
                  <a:cubicBezTo>
                    <a:pt x="1342727" y="0"/>
                    <a:pt x="1354187" y="11460"/>
                    <a:pt x="1354187" y="25597"/>
                  </a:cubicBezTo>
                  <a:lnTo>
                    <a:pt x="1354187" y="543298"/>
                  </a:lnTo>
                  <a:cubicBezTo>
                    <a:pt x="1354187" y="557435"/>
                    <a:pt x="1342727" y="568895"/>
                    <a:pt x="1328590" y="568895"/>
                  </a:cubicBezTo>
                  <a:lnTo>
                    <a:pt x="25597" y="568895"/>
                  </a:lnTo>
                  <a:cubicBezTo>
                    <a:pt x="11460" y="568895"/>
                    <a:pt x="0" y="557435"/>
                    <a:pt x="0" y="543298"/>
                  </a:cubicBezTo>
                  <a:lnTo>
                    <a:pt x="0" y="25597"/>
                  </a:lnTo>
                  <a:cubicBezTo>
                    <a:pt x="0" y="11460"/>
                    <a:pt x="11460" y="0"/>
                    <a:pt x="2559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54187" cy="606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89514" y="5929573"/>
            <a:ext cx="4905898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Reliance </a:t>
            </a: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physical registers leads to slow entry, messy organization, and frequent human errors.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95810" y="2803487"/>
            <a:ext cx="4773515" cy="4037188"/>
            <a:chOff x="0" y="0"/>
            <a:chExt cx="1257222" cy="10632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222" cy="1063292"/>
            </a:xfrm>
            <a:custGeom>
              <a:avLst/>
              <a:gdLst/>
              <a:ahLst/>
              <a:cxnLst/>
              <a:rect r="r" b="b" t="t" l="l"/>
              <a:pathLst>
                <a:path h="1063292" w="1257222">
                  <a:moveTo>
                    <a:pt x="27571" y="0"/>
                  </a:moveTo>
                  <a:lnTo>
                    <a:pt x="1229651" y="0"/>
                  </a:lnTo>
                  <a:cubicBezTo>
                    <a:pt x="1236963" y="0"/>
                    <a:pt x="1243976" y="2905"/>
                    <a:pt x="1249147" y="8075"/>
                  </a:cubicBezTo>
                  <a:cubicBezTo>
                    <a:pt x="1254317" y="13246"/>
                    <a:pt x="1257222" y="20259"/>
                    <a:pt x="1257222" y="27571"/>
                  </a:cubicBezTo>
                  <a:lnTo>
                    <a:pt x="1257222" y="1035721"/>
                  </a:lnTo>
                  <a:cubicBezTo>
                    <a:pt x="1257222" y="1050948"/>
                    <a:pt x="1244878" y="1063292"/>
                    <a:pt x="1229651" y="1063292"/>
                  </a:cubicBezTo>
                  <a:lnTo>
                    <a:pt x="27571" y="1063292"/>
                  </a:lnTo>
                  <a:cubicBezTo>
                    <a:pt x="12344" y="1063292"/>
                    <a:pt x="0" y="1050948"/>
                    <a:pt x="0" y="1035721"/>
                  </a:cubicBezTo>
                  <a:lnTo>
                    <a:pt x="0" y="27571"/>
                  </a:lnTo>
                  <a:cubicBezTo>
                    <a:pt x="0" y="12344"/>
                    <a:pt x="12344" y="0"/>
                    <a:pt x="2757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7222" cy="1101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53086" y="3997065"/>
            <a:ext cx="4920105" cy="3922449"/>
            <a:chOff x="0" y="0"/>
            <a:chExt cx="1295830" cy="10330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830" cy="1033073"/>
            </a:xfrm>
            <a:custGeom>
              <a:avLst/>
              <a:gdLst/>
              <a:ahLst/>
              <a:cxnLst/>
              <a:rect r="r" b="b" t="t" l="l"/>
              <a:pathLst>
                <a:path h="1033073" w="1295830">
                  <a:moveTo>
                    <a:pt x="26750" y="0"/>
                  </a:moveTo>
                  <a:lnTo>
                    <a:pt x="1269080" y="0"/>
                  </a:lnTo>
                  <a:cubicBezTo>
                    <a:pt x="1283854" y="0"/>
                    <a:pt x="1295830" y="11976"/>
                    <a:pt x="1295830" y="26750"/>
                  </a:cubicBezTo>
                  <a:lnTo>
                    <a:pt x="1295830" y="1006323"/>
                  </a:lnTo>
                  <a:cubicBezTo>
                    <a:pt x="1295830" y="1021096"/>
                    <a:pt x="1283854" y="1033073"/>
                    <a:pt x="1269080" y="1033073"/>
                  </a:cubicBezTo>
                  <a:lnTo>
                    <a:pt x="26750" y="1033073"/>
                  </a:lnTo>
                  <a:cubicBezTo>
                    <a:pt x="11976" y="1033073"/>
                    <a:pt x="0" y="1021096"/>
                    <a:pt x="0" y="1006323"/>
                  </a:cubicBezTo>
                  <a:lnTo>
                    <a:pt x="0" y="26750"/>
                  </a:lnTo>
                  <a:cubicBezTo>
                    <a:pt x="0" y="11976"/>
                    <a:pt x="11976" y="0"/>
                    <a:pt x="2675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5830" cy="107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45345" y="2803487"/>
            <a:ext cx="4497393" cy="3086100"/>
            <a:chOff x="0" y="0"/>
            <a:chExt cx="1184498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84498" cy="812800"/>
            </a:xfrm>
            <a:custGeom>
              <a:avLst/>
              <a:gdLst/>
              <a:ahLst/>
              <a:cxnLst/>
              <a:rect r="r" b="b" t="t" l="l"/>
              <a:pathLst>
                <a:path h="812800" w="1184498">
                  <a:moveTo>
                    <a:pt x="29264" y="0"/>
                  </a:moveTo>
                  <a:lnTo>
                    <a:pt x="1155234" y="0"/>
                  </a:lnTo>
                  <a:cubicBezTo>
                    <a:pt x="1162996" y="0"/>
                    <a:pt x="1170439" y="3083"/>
                    <a:pt x="1175927" y="8571"/>
                  </a:cubicBezTo>
                  <a:cubicBezTo>
                    <a:pt x="1181415" y="14059"/>
                    <a:pt x="1184498" y="21503"/>
                    <a:pt x="1184498" y="29264"/>
                  </a:cubicBezTo>
                  <a:lnTo>
                    <a:pt x="1184498" y="783536"/>
                  </a:lnTo>
                  <a:cubicBezTo>
                    <a:pt x="1184498" y="791297"/>
                    <a:pt x="1181415" y="798741"/>
                    <a:pt x="1175927" y="804229"/>
                  </a:cubicBezTo>
                  <a:cubicBezTo>
                    <a:pt x="1170439" y="809717"/>
                    <a:pt x="1162996" y="812800"/>
                    <a:pt x="1155234" y="812800"/>
                  </a:cubicBezTo>
                  <a:lnTo>
                    <a:pt x="29264" y="812800"/>
                  </a:lnTo>
                  <a:cubicBezTo>
                    <a:pt x="21503" y="812800"/>
                    <a:pt x="14059" y="809717"/>
                    <a:pt x="8571" y="804229"/>
                  </a:cubicBezTo>
                  <a:cubicBezTo>
                    <a:pt x="3083" y="798741"/>
                    <a:pt x="0" y="791297"/>
                    <a:pt x="0" y="783536"/>
                  </a:cubicBezTo>
                  <a:lnTo>
                    <a:pt x="0" y="29264"/>
                  </a:lnTo>
                  <a:cubicBezTo>
                    <a:pt x="0" y="21503"/>
                    <a:pt x="3083" y="14059"/>
                    <a:pt x="8571" y="8571"/>
                  </a:cubicBezTo>
                  <a:cubicBezTo>
                    <a:pt x="14059" y="3083"/>
                    <a:pt x="21503" y="0"/>
                    <a:pt x="2926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84498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84902" y="7085111"/>
            <a:ext cx="7484295" cy="2794239"/>
            <a:chOff x="0" y="0"/>
            <a:chExt cx="1971172" cy="7359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1173" cy="735931"/>
            </a:xfrm>
            <a:custGeom>
              <a:avLst/>
              <a:gdLst/>
              <a:ahLst/>
              <a:cxnLst/>
              <a:rect r="r" b="b" t="t" l="l"/>
              <a:pathLst>
                <a:path h="735931" w="1971173">
                  <a:moveTo>
                    <a:pt x="17585" y="0"/>
                  </a:moveTo>
                  <a:lnTo>
                    <a:pt x="1953587" y="0"/>
                  </a:lnTo>
                  <a:cubicBezTo>
                    <a:pt x="1958251" y="0"/>
                    <a:pt x="1962724" y="1853"/>
                    <a:pt x="1966022" y="5151"/>
                  </a:cubicBezTo>
                  <a:cubicBezTo>
                    <a:pt x="1969320" y="8448"/>
                    <a:pt x="1971173" y="12921"/>
                    <a:pt x="1971173" y="17585"/>
                  </a:cubicBezTo>
                  <a:lnTo>
                    <a:pt x="1971173" y="718346"/>
                  </a:lnTo>
                  <a:cubicBezTo>
                    <a:pt x="1971173" y="723010"/>
                    <a:pt x="1969320" y="727483"/>
                    <a:pt x="1966022" y="730781"/>
                  </a:cubicBezTo>
                  <a:cubicBezTo>
                    <a:pt x="1962724" y="734079"/>
                    <a:pt x="1958251" y="735931"/>
                    <a:pt x="1953587" y="735931"/>
                  </a:cubicBezTo>
                  <a:lnTo>
                    <a:pt x="17585" y="735931"/>
                  </a:lnTo>
                  <a:cubicBezTo>
                    <a:pt x="12921" y="735931"/>
                    <a:pt x="8448" y="734079"/>
                    <a:pt x="5151" y="730781"/>
                  </a:cubicBezTo>
                  <a:cubicBezTo>
                    <a:pt x="1853" y="727483"/>
                    <a:pt x="0" y="723010"/>
                    <a:pt x="0" y="718346"/>
                  </a:cubicBezTo>
                  <a:lnTo>
                    <a:pt x="0" y="17585"/>
                  </a:lnTo>
                  <a:cubicBezTo>
                    <a:pt x="0" y="12921"/>
                    <a:pt x="1853" y="8448"/>
                    <a:pt x="5151" y="5151"/>
                  </a:cubicBezTo>
                  <a:cubicBezTo>
                    <a:pt x="8448" y="1853"/>
                    <a:pt x="12921" y="0"/>
                    <a:pt x="1758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71172" cy="77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307343" y="7169005"/>
            <a:ext cx="581638" cy="650206"/>
          </a:xfrm>
          <a:custGeom>
            <a:avLst/>
            <a:gdLst/>
            <a:ahLst/>
            <a:cxnLst/>
            <a:rect r="r" b="b" t="t" l="l"/>
            <a:pathLst>
              <a:path h="650206" w="581638">
                <a:moveTo>
                  <a:pt x="0" y="0"/>
                </a:moveTo>
                <a:lnTo>
                  <a:pt x="581638" y="0"/>
                </a:lnTo>
                <a:lnTo>
                  <a:pt x="581638" y="650206"/>
                </a:lnTo>
                <a:lnTo>
                  <a:pt x="0" y="650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95920" y="267202"/>
            <a:ext cx="6978650" cy="97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PROPOSED</a:t>
            </a: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630323"/>
            <a:ext cx="16230600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r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obust, web-based automated system designed to centralize grievance handling and ensure 100% transparency.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920" y="4310270"/>
            <a:ext cx="4777271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Transformation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5920" y="5265201"/>
            <a:ext cx="4491604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Replaces messy paperwork with a secure digital system for instant data retrieval and zero loss.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3466" y="3033810"/>
            <a:ext cx="4491604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</a:t>
            </a: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Tracking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13466" y="4002820"/>
            <a:ext cx="4620114" cy="22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Students can track their grievances in real-time—from "Pending" to "Resolved"—on their own dashboard.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62383" y="3033810"/>
            <a:ext cx="2222500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aster Fixes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71805" y="3651458"/>
            <a:ext cx="4497393" cy="181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Automates the r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outing of complaints to the right department, cutting down resolution time by 70%.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1485" y="7307400"/>
            <a:ext cx="7484295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hanced Security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99130" y="7923986"/>
            <a:ext cx="7143607" cy="136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Protects information using r</a:t>
            </a: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ole-based logins, ensuring that only authorized admins can access or change records.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1634" y="276279"/>
            <a:ext cx="6381750" cy="96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TECHNICAL</a:t>
            </a:r>
            <a:r>
              <a:rPr lang="en-US" sz="5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87954" y="1809656"/>
            <a:ext cx="3422291" cy="1099520"/>
            <a:chOff x="0" y="0"/>
            <a:chExt cx="901344" cy="2895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1344" cy="289585"/>
            </a:xfrm>
            <a:custGeom>
              <a:avLst/>
              <a:gdLst/>
              <a:ahLst/>
              <a:cxnLst/>
              <a:rect r="r" b="b" t="t" l="l"/>
              <a:pathLst>
                <a:path h="289585" w="901344">
                  <a:moveTo>
                    <a:pt x="38457" y="0"/>
                  </a:moveTo>
                  <a:lnTo>
                    <a:pt x="862887" y="0"/>
                  </a:lnTo>
                  <a:cubicBezTo>
                    <a:pt x="884126" y="0"/>
                    <a:pt x="901344" y="17218"/>
                    <a:pt x="901344" y="38457"/>
                  </a:cubicBezTo>
                  <a:lnTo>
                    <a:pt x="901344" y="251128"/>
                  </a:lnTo>
                  <a:cubicBezTo>
                    <a:pt x="901344" y="261328"/>
                    <a:pt x="897292" y="271109"/>
                    <a:pt x="890080" y="278322"/>
                  </a:cubicBezTo>
                  <a:cubicBezTo>
                    <a:pt x="882868" y="285534"/>
                    <a:pt x="873086" y="289585"/>
                    <a:pt x="862887" y="289585"/>
                  </a:cubicBezTo>
                  <a:lnTo>
                    <a:pt x="38457" y="289585"/>
                  </a:lnTo>
                  <a:cubicBezTo>
                    <a:pt x="28258" y="289585"/>
                    <a:pt x="18476" y="285534"/>
                    <a:pt x="11264" y="278322"/>
                  </a:cubicBezTo>
                  <a:cubicBezTo>
                    <a:pt x="4052" y="271109"/>
                    <a:pt x="0" y="261328"/>
                    <a:pt x="0" y="251128"/>
                  </a:cubicBezTo>
                  <a:lnTo>
                    <a:pt x="0" y="38457"/>
                  </a:lnTo>
                  <a:cubicBezTo>
                    <a:pt x="0" y="28258"/>
                    <a:pt x="4052" y="18476"/>
                    <a:pt x="11264" y="11264"/>
                  </a:cubicBezTo>
                  <a:cubicBezTo>
                    <a:pt x="18476" y="4052"/>
                    <a:pt x="28258" y="0"/>
                    <a:pt x="3845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01344" cy="327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89399" y="2079698"/>
            <a:ext cx="2819400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1.Frontend (UI)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669184" y="1598218"/>
            <a:ext cx="11590116" cy="1310957"/>
            <a:chOff x="0" y="0"/>
            <a:chExt cx="3052541" cy="345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2541" cy="345273"/>
            </a:xfrm>
            <a:custGeom>
              <a:avLst/>
              <a:gdLst/>
              <a:ahLst/>
              <a:cxnLst/>
              <a:rect r="r" b="b" t="t" l="l"/>
              <a:pathLst>
                <a:path h="345273" w="3052541">
                  <a:moveTo>
                    <a:pt x="11356" y="0"/>
                  </a:moveTo>
                  <a:lnTo>
                    <a:pt x="3041185" y="0"/>
                  </a:lnTo>
                  <a:cubicBezTo>
                    <a:pt x="3044197" y="0"/>
                    <a:pt x="3047085" y="1196"/>
                    <a:pt x="3049215" y="3326"/>
                  </a:cubicBezTo>
                  <a:cubicBezTo>
                    <a:pt x="3051344" y="5456"/>
                    <a:pt x="3052541" y="8344"/>
                    <a:pt x="3052541" y="11356"/>
                  </a:cubicBezTo>
                  <a:lnTo>
                    <a:pt x="3052541" y="333917"/>
                  </a:lnTo>
                  <a:cubicBezTo>
                    <a:pt x="3052541" y="340189"/>
                    <a:pt x="3047457" y="345273"/>
                    <a:pt x="3041185" y="345273"/>
                  </a:cubicBezTo>
                  <a:lnTo>
                    <a:pt x="11356" y="345273"/>
                  </a:lnTo>
                  <a:cubicBezTo>
                    <a:pt x="5084" y="345273"/>
                    <a:pt x="0" y="340189"/>
                    <a:pt x="0" y="333917"/>
                  </a:cubicBezTo>
                  <a:lnTo>
                    <a:pt x="0" y="11356"/>
                  </a:lnTo>
                  <a:cubicBezTo>
                    <a:pt x="0" y="5084"/>
                    <a:pt x="5084" y="0"/>
                    <a:pt x="113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52541" cy="383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69184" y="1746933"/>
            <a:ext cx="11590116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ologies: HTML5, CSS3, JavaScript</a:t>
            </a:r>
          </a:p>
          <a:p>
            <a:pPr algn="l" marL="582925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Purpose: To create a responsive and user-friendly interface.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304577" y="3579723"/>
            <a:ext cx="4037728" cy="1176297"/>
            <a:chOff x="0" y="0"/>
            <a:chExt cx="1063435" cy="3098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435" cy="309807"/>
            </a:xfrm>
            <a:custGeom>
              <a:avLst/>
              <a:gdLst/>
              <a:ahLst/>
              <a:cxnLst/>
              <a:rect r="r" b="b" t="t" l="l"/>
              <a:pathLst>
                <a:path h="309807" w="1063435">
                  <a:moveTo>
                    <a:pt x="32596" y="0"/>
                  </a:moveTo>
                  <a:lnTo>
                    <a:pt x="1030839" y="0"/>
                  </a:lnTo>
                  <a:cubicBezTo>
                    <a:pt x="1048841" y="0"/>
                    <a:pt x="1063435" y="14594"/>
                    <a:pt x="1063435" y="32596"/>
                  </a:cubicBezTo>
                  <a:lnTo>
                    <a:pt x="1063435" y="277211"/>
                  </a:lnTo>
                  <a:cubicBezTo>
                    <a:pt x="1063435" y="295213"/>
                    <a:pt x="1048841" y="309807"/>
                    <a:pt x="1030839" y="309807"/>
                  </a:cubicBezTo>
                  <a:lnTo>
                    <a:pt x="32596" y="309807"/>
                  </a:lnTo>
                  <a:cubicBezTo>
                    <a:pt x="14594" y="309807"/>
                    <a:pt x="0" y="295213"/>
                    <a:pt x="0" y="277211"/>
                  </a:cubicBezTo>
                  <a:lnTo>
                    <a:pt x="0" y="32596"/>
                  </a:lnTo>
                  <a:cubicBezTo>
                    <a:pt x="0" y="14594"/>
                    <a:pt x="14594" y="0"/>
                    <a:pt x="3259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3435" cy="347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87954" y="3756950"/>
            <a:ext cx="3854352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2.Backend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(Server)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69184" y="3164254"/>
            <a:ext cx="10635105" cy="1744829"/>
            <a:chOff x="0" y="0"/>
            <a:chExt cx="2801015" cy="4595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01015" cy="459543"/>
            </a:xfrm>
            <a:custGeom>
              <a:avLst/>
              <a:gdLst/>
              <a:ahLst/>
              <a:cxnLst/>
              <a:rect r="r" b="b" t="t" l="l"/>
              <a:pathLst>
                <a:path h="459543" w="2801015">
                  <a:moveTo>
                    <a:pt x="12375" y="0"/>
                  </a:moveTo>
                  <a:lnTo>
                    <a:pt x="2788640" y="0"/>
                  </a:lnTo>
                  <a:cubicBezTo>
                    <a:pt x="2795475" y="0"/>
                    <a:pt x="2801015" y="5541"/>
                    <a:pt x="2801015" y="12375"/>
                  </a:cubicBezTo>
                  <a:lnTo>
                    <a:pt x="2801015" y="447168"/>
                  </a:lnTo>
                  <a:cubicBezTo>
                    <a:pt x="2801015" y="454003"/>
                    <a:pt x="2795475" y="459543"/>
                    <a:pt x="2788640" y="459543"/>
                  </a:cubicBezTo>
                  <a:lnTo>
                    <a:pt x="12375" y="459543"/>
                  </a:lnTo>
                  <a:cubicBezTo>
                    <a:pt x="5541" y="459543"/>
                    <a:pt x="0" y="454003"/>
                    <a:pt x="0" y="447168"/>
                  </a:cubicBezTo>
                  <a:lnTo>
                    <a:pt x="0" y="12375"/>
                  </a:lnTo>
                  <a:cubicBezTo>
                    <a:pt x="0" y="5541"/>
                    <a:pt x="5541" y="0"/>
                    <a:pt x="1237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01015" cy="497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669184" y="3247260"/>
            <a:ext cx="11590116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Language: Pyth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Framework: Django (or Flask)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Use: Handling logic, user authentication, and data routing.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54707" y="5489609"/>
            <a:ext cx="2754092" cy="1159753"/>
            <a:chOff x="0" y="0"/>
            <a:chExt cx="725358" cy="3054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5358" cy="305449"/>
            </a:xfrm>
            <a:custGeom>
              <a:avLst/>
              <a:gdLst/>
              <a:ahLst/>
              <a:cxnLst/>
              <a:rect r="r" b="b" t="t" l="l"/>
              <a:pathLst>
                <a:path h="305449" w="725358">
                  <a:moveTo>
                    <a:pt x="47788" y="0"/>
                  </a:moveTo>
                  <a:lnTo>
                    <a:pt x="677570" y="0"/>
                  </a:lnTo>
                  <a:cubicBezTo>
                    <a:pt x="703962" y="0"/>
                    <a:pt x="725358" y="21395"/>
                    <a:pt x="725358" y="47788"/>
                  </a:cubicBezTo>
                  <a:lnTo>
                    <a:pt x="725358" y="257661"/>
                  </a:lnTo>
                  <a:cubicBezTo>
                    <a:pt x="725358" y="284054"/>
                    <a:pt x="703962" y="305449"/>
                    <a:pt x="677570" y="305449"/>
                  </a:cubicBezTo>
                  <a:lnTo>
                    <a:pt x="47788" y="305449"/>
                  </a:lnTo>
                  <a:cubicBezTo>
                    <a:pt x="21395" y="305449"/>
                    <a:pt x="0" y="284054"/>
                    <a:pt x="0" y="257661"/>
                  </a:cubicBezTo>
                  <a:lnTo>
                    <a:pt x="0" y="47788"/>
                  </a:lnTo>
                  <a:cubicBezTo>
                    <a:pt x="0" y="21395"/>
                    <a:pt x="21395" y="0"/>
                    <a:pt x="4778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5358" cy="343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90153" y="5747283"/>
            <a:ext cx="5640183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3.D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atabase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669184" y="5299608"/>
            <a:ext cx="11590116" cy="2303826"/>
            <a:chOff x="0" y="0"/>
            <a:chExt cx="3052541" cy="6067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2541" cy="606769"/>
            </a:xfrm>
            <a:custGeom>
              <a:avLst/>
              <a:gdLst/>
              <a:ahLst/>
              <a:cxnLst/>
              <a:rect r="r" b="b" t="t" l="l"/>
              <a:pathLst>
                <a:path h="606769" w="3052541">
                  <a:moveTo>
                    <a:pt x="11356" y="0"/>
                  </a:moveTo>
                  <a:lnTo>
                    <a:pt x="3041185" y="0"/>
                  </a:lnTo>
                  <a:cubicBezTo>
                    <a:pt x="3044197" y="0"/>
                    <a:pt x="3047085" y="1196"/>
                    <a:pt x="3049215" y="3326"/>
                  </a:cubicBezTo>
                  <a:cubicBezTo>
                    <a:pt x="3051344" y="5456"/>
                    <a:pt x="3052541" y="8344"/>
                    <a:pt x="3052541" y="11356"/>
                  </a:cubicBezTo>
                  <a:lnTo>
                    <a:pt x="3052541" y="595413"/>
                  </a:lnTo>
                  <a:cubicBezTo>
                    <a:pt x="3052541" y="601685"/>
                    <a:pt x="3047457" y="606769"/>
                    <a:pt x="3041185" y="606769"/>
                  </a:cubicBezTo>
                  <a:lnTo>
                    <a:pt x="11356" y="606769"/>
                  </a:lnTo>
                  <a:cubicBezTo>
                    <a:pt x="5084" y="606769"/>
                    <a:pt x="0" y="601685"/>
                    <a:pt x="0" y="595413"/>
                  </a:cubicBezTo>
                  <a:lnTo>
                    <a:pt x="0" y="11356"/>
                  </a:lnTo>
                  <a:cubicBezTo>
                    <a:pt x="0" y="5084"/>
                    <a:pt x="5084" y="0"/>
                    <a:pt x="113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52541" cy="644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820420" y="5413908"/>
            <a:ext cx="11287643" cy="189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Heading: Data St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orage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Technology: MySQL (or PostgreSQL)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Use: Managing secure records for complaints, users, and admin data.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77699" y="8077688"/>
            <a:ext cx="4364607" cy="1119721"/>
            <a:chOff x="0" y="0"/>
            <a:chExt cx="1149526" cy="2949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9526" cy="294906"/>
            </a:xfrm>
            <a:custGeom>
              <a:avLst/>
              <a:gdLst/>
              <a:ahLst/>
              <a:cxnLst/>
              <a:rect r="r" b="b" t="t" l="l"/>
              <a:pathLst>
                <a:path h="294906" w="1149526">
                  <a:moveTo>
                    <a:pt x="30155" y="0"/>
                  </a:moveTo>
                  <a:lnTo>
                    <a:pt x="1119372" y="0"/>
                  </a:lnTo>
                  <a:cubicBezTo>
                    <a:pt x="1127369" y="0"/>
                    <a:pt x="1135039" y="3177"/>
                    <a:pt x="1140694" y="8832"/>
                  </a:cubicBezTo>
                  <a:cubicBezTo>
                    <a:pt x="1146349" y="14487"/>
                    <a:pt x="1149526" y="22157"/>
                    <a:pt x="1149526" y="30155"/>
                  </a:cubicBezTo>
                  <a:lnTo>
                    <a:pt x="1149526" y="264751"/>
                  </a:lnTo>
                  <a:cubicBezTo>
                    <a:pt x="1149526" y="272749"/>
                    <a:pt x="1146349" y="280419"/>
                    <a:pt x="1140694" y="286074"/>
                  </a:cubicBezTo>
                  <a:cubicBezTo>
                    <a:pt x="1135039" y="291729"/>
                    <a:pt x="1127369" y="294906"/>
                    <a:pt x="1119372" y="294906"/>
                  </a:cubicBezTo>
                  <a:lnTo>
                    <a:pt x="30155" y="294906"/>
                  </a:lnTo>
                  <a:cubicBezTo>
                    <a:pt x="22157" y="294906"/>
                    <a:pt x="14487" y="291729"/>
                    <a:pt x="8832" y="286074"/>
                  </a:cubicBezTo>
                  <a:cubicBezTo>
                    <a:pt x="3177" y="280419"/>
                    <a:pt x="0" y="272749"/>
                    <a:pt x="0" y="264751"/>
                  </a:cubicBezTo>
                  <a:lnTo>
                    <a:pt x="0" y="30155"/>
                  </a:lnTo>
                  <a:cubicBezTo>
                    <a:pt x="0" y="22157"/>
                    <a:pt x="3177" y="14487"/>
                    <a:pt x="8832" y="8832"/>
                  </a:cubicBezTo>
                  <a:cubicBezTo>
                    <a:pt x="14487" y="3177"/>
                    <a:pt x="22157" y="0"/>
                    <a:pt x="3015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49526" cy="333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28700" y="8357830"/>
            <a:ext cx="4332466" cy="51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4.Devel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opment Tools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195062" y="7860608"/>
            <a:ext cx="11064238" cy="1873262"/>
            <a:chOff x="0" y="0"/>
            <a:chExt cx="2914038" cy="4933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14038" cy="493369"/>
            </a:xfrm>
            <a:custGeom>
              <a:avLst/>
              <a:gdLst/>
              <a:ahLst/>
              <a:cxnLst/>
              <a:rect r="r" b="b" t="t" l="l"/>
              <a:pathLst>
                <a:path h="493369" w="2914038">
                  <a:moveTo>
                    <a:pt x="11895" y="0"/>
                  </a:moveTo>
                  <a:lnTo>
                    <a:pt x="2902142" y="0"/>
                  </a:lnTo>
                  <a:cubicBezTo>
                    <a:pt x="2905297" y="0"/>
                    <a:pt x="2908323" y="1253"/>
                    <a:pt x="2910554" y="3484"/>
                  </a:cubicBezTo>
                  <a:cubicBezTo>
                    <a:pt x="2912785" y="5715"/>
                    <a:pt x="2914038" y="8740"/>
                    <a:pt x="2914038" y="11895"/>
                  </a:cubicBezTo>
                  <a:lnTo>
                    <a:pt x="2914038" y="481474"/>
                  </a:lnTo>
                  <a:cubicBezTo>
                    <a:pt x="2914038" y="484629"/>
                    <a:pt x="2912785" y="487654"/>
                    <a:pt x="2910554" y="489885"/>
                  </a:cubicBezTo>
                  <a:cubicBezTo>
                    <a:pt x="2908323" y="492116"/>
                    <a:pt x="2905297" y="493369"/>
                    <a:pt x="2902142" y="493369"/>
                  </a:cubicBezTo>
                  <a:lnTo>
                    <a:pt x="11895" y="493369"/>
                  </a:lnTo>
                  <a:cubicBezTo>
                    <a:pt x="5326" y="493369"/>
                    <a:pt x="0" y="488044"/>
                    <a:pt x="0" y="481474"/>
                  </a:cubicBezTo>
                  <a:lnTo>
                    <a:pt x="0" y="11895"/>
                  </a:lnTo>
                  <a:cubicBezTo>
                    <a:pt x="0" y="8740"/>
                    <a:pt x="1253" y="5715"/>
                    <a:pt x="3484" y="3484"/>
                  </a:cubicBezTo>
                  <a:cubicBezTo>
                    <a:pt x="5715" y="1253"/>
                    <a:pt x="8740" y="0"/>
                    <a:pt x="1189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914038" cy="5314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146762" y="8020538"/>
            <a:ext cx="10634960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IDE: VS Code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ols: Pip (Package Manager), Python VirtualEnv 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Use: Managing project dependencies and local server testing.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9161" y="2183426"/>
            <a:ext cx="11269679" cy="5920148"/>
          </a:xfrm>
          <a:custGeom>
            <a:avLst/>
            <a:gdLst/>
            <a:ahLst/>
            <a:cxnLst/>
            <a:rect r="r" b="b" t="t" l="l"/>
            <a:pathLst>
              <a:path h="5920148" w="11269679">
                <a:moveTo>
                  <a:pt x="0" y="0"/>
                </a:moveTo>
                <a:lnTo>
                  <a:pt x="11269678" y="0"/>
                </a:lnTo>
                <a:lnTo>
                  <a:pt x="11269678" y="5920148"/>
                </a:lnTo>
                <a:lnTo>
                  <a:pt x="0" y="5920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945" y="474979"/>
            <a:ext cx="7378700" cy="100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sz="5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</a:t>
            </a:r>
            <a:r>
              <a:rPr lang="en-US" sz="5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780603" y="8551619"/>
            <a:ext cx="10508484" cy="1527399"/>
            <a:chOff x="0" y="0"/>
            <a:chExt cx="2767667" cy="4022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7667" cy="402278"/>
            </a:xfrm>
            <a:custGeom>
              <a:avLst/>
              <a:gdLst/>
              <a:ahLst/>
              <a:cxnLst/>
              <a:rect r="r" b="b" t="t" l="l"/>
              <a:pathLst>
                <a:path h="402278" w="2767667">
                  <a:moveTo>
                    <a:pt x="12524" y="0"/>
                  </a:moveTo>
                  <a:lnTo>
                    <a:pt x="2755142" y="0"/>
                  </a:lnTo>
                  <a:cubicBezTo>
                    <a:pt x="2758464" y="0"/>
                    <a:pt x="2761650" y="1320"/>
                    <a:pt x="2763998" y="3668"/>
                  </a:cubicBezTo>
                  <a:cubicBezTo>
                    <a:pt x="2766347" y="6017"/>
                    <a:pt x="2767667" y="9203"/>
                    <a:pt x="2767667" y="12524"/>
                  </a:cubicBezTo>
                  <a:lnTo>
                    <a:pt x="2767667" y="389753"/>
                  </a:lnTo>
                  <a:cubicBezTo>
                    <a:pt x="2767667" y="393075"/>
                    <a:pt x="2766347" y="396261"/>
                    <a:pt x="2763998" y="398609"/>
                  </a:cubicBezTo>
                  <a:cubicBezTo>
                    <a:pt x="2761650" y="400958"/>
                    <a:pt x="2758464" y="402278"/>
                    <a:pt x="2755142" y="402278"/>
                  </a:cubicBezTo>
                  <a:lnTo>
                    <a:pt x="12524" y="402278"/>
                  </a:lnTo>
                  <a:cubicBezTo>
                    <a:pt x="9203" y="402278"/>
                    <a:pt x="6017" y="400958"/>
                    <a:pt x="3668" y="398609"/>
                  </a:cubicBezTo>
                  <a:cubicBezTo>
                    <a:pt x="1320" y="396261"/>
                    <a:pt x="0" y="393075"/>
                    <a:pt x="0" y="389753"/>
                  </a:cubicBezTo>
                  <a:lnTo>
                    <a:pt x="0" y="12524"/>
                  </a:lnTo>
                  <a:cubicBezTo>
                    <a:pt x="0" y="9203"/>
                    <a:pt x="1320" y="6017"/>
                    <a:pt x="3668" y="3668"/>
                  </a:cubicBezTo>
                  <a:cubicBezTo>
                    <a:pt x="6017" y="1320"/>
                    <a:pt x="9203" y="0"/>
                    <a:pt x="125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67667" cy="440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998912" y="8910955"/>
            <a:ext cx="1029017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high-level </a:t>
            </a: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overview showing the seamless interaction between the Web Interface, the Python Backend, and the MySQL Database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982622"/>
            <a:ext cx="11301259" cy="5806022"/>
          </a:xfrm>
          <a:custGeom>
            <a:avLst/>
            <a:gdLst/>
            <a:ahLst/>
            <a:cxnLst/>
            <a:rect r="r" b="b" t="t" l="l"/>
            <a:pathLst>
              <a:path h="5806022" w="11301259">
                <a:moveTo>
                  <a:pt x="0" y="0"/>
                </a:moveTo>
                <a:lnTo>
                  <a:pt x="11301258" y="0"/>
                </a:lnTo>
                <a:lnTo>
                  <a:pt x="11301258" y="5806021"/>
                </a:lnTo>
                <a:lnTo>
                  <a:pt x="0" y="5806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2363" y="291147"/>
            <a:ext cx="6445250" cy="13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</a:t>
            </a: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Case Diagram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787423" y="8122018"/>
            <a:ext cx="12942369" cy="1830853"/>
            <a:chOff x="0" y="0"/>
            <a:chExt cx="3408690" cy="482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8690" cy="482200"/>
            </a:xfrm>
            <a:custGeom>
              <a:avLst/>
              <a:gdLst/>
              <a:ahLst/>
              <a:cxnLst/>
              <a:rect r="r" b="b" t="t" l="l"/>
              <a:pathLst>
                <a:path h="482200" w="3408690">
                  <a:moveTo>
                    <a:pt x="10169" y="0"/>
                  </a:moveTo>
                  <a:lnTo>
                    <a:pt x="3398521" y="0"/>
                  </a:lnTo>
                  <a:cubicBezTo>
                    <a:pt x="3404137" y="0"/>
                    <a:pt x="3408690" y="4553"/>
                    <a:pt x="3408690" y="10169"/>
                  </a:cubicBezTo>
                  <a:lnTo>
                    <a:pt x="3408690" y="472031"/>
                  </a:lnTo>
                  <a:cubicBezTo>
                    <a:pt x="3408690" y="474728"/>
                    <a:pt x="3407619" y="477315"/>
                    <a:pt x="3405711" y="479222"/>
                  </a:cubicBezTo>
                  <a:cubicBezTo>
                    <a:pt x="3403805" y="481129"/>
                    <a:pt x="3401218" y="482200"/>
                    <a:pt x="3398521" y="482200"/>
                  </a:cubicBezTo>
                  <a:lnTo>
                    <a:pt x="10169" y="482200"/>
                  </a:lnTo>
                  <a:cubicBezTo>
                    <a:pt x="7472" y="482200"/>
                    <a:pt x="4886" y="481129"/>
                    <a:pt x="2978" y="479222"/>
                  </a:cubicBezTo>
                  <a:cubicBezTo>
                    <a:pt x="1071" y="477315"/>
                    <a:pt x="0" y="474728"/>
                    <a:pt x="0" y="472031"/>
                  </a:cubicBezTo>
                  <a:lnTo>
                    <a:pt x="0" y="10169"/>
                  </a:lnTo>
                  <a:cubicBezTo>
                    <a:pt x="0" y="7472"/>
                    <a:pt x="1071" y="4886"/>
                    <a:pt x="2978" y="2978"/>
                  </a:cubicBezTo>
                  <a:cubicBezTo>
                    <a:pt x="4886" y="1071"/>
                    <a:pt x="7472" y="0"/>
                    <a:pt x="1016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408690" cy="52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73943" y="8538335"/>
            <a:ext cx="12426634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Defines the functi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onal requirements of the system by mapping the specific actions available to both Users and Administrators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0178" y="1878839"/>
            <a:ext cx="9907644" cy="5647357"/>
          </a:xfrm>
          <a:custGeom>
            <a:avLst/>
            <a:gdLst/>
            <a:ahLst/>
            <a:cxnLst/>
            <a:rect r="r" b="b" t="t" l="l"/>
            <a:pathLst>
              <a:path h="5647357" w="9907644">
                <a:moveTo>
                  <a:pt x="0" y="0"/>
                </a:moveTo>
                <a:lnTo>
                  <a:pt x="9907644" y="0"/>
                </a:lnTo>
                <a:lnTo>
                  <a:pt x="9907644" y="5647357"/>
                </a:lnTo>
                <a:lnTo>
                  <a:pt x="0" y="564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006" y="241101"/>
            <a:ext cx="6743700" cy="97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Flow Diagram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14926" y="6745408"/>
            <a:ext cx="1099520" cy="1038394"/>
            <a:chOff x="0" y="0"/>
            <a:chExt cx="289585" cy="2734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9585" cy="273487"/>
            </a:xfrm>
            <a:custGeom>
              <a:avLst/>
              <a:gdLst/>
              <a:ahLst/>
              <a:cxnLst/>
              <a:rect r="r" b="b" t="t" l="l"/>
              <a:pathLst>
                <a:path h="273487" w="289585">
                  <a:moveTo>
                    <a:pt x="0" y="0"/>
                  </a:moveTo>
                  <a:lnTo>
                    <a:pt x="289585" y="0"/>
                  </a:lnTo>
                  <a:lnTo>
                    <a:pt x="289585" y="273487"/>
                  </a:lnTo>
                  <a:lnTo>
                    <a:pt x="0" y="273487"/>
                  </a:lnTo>
                  <a:close/>
                </a:path>
              </a:pathLst>
            </a:custGeom>
            <a:solidFill>
              <a:srgbClr val="EFF1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9585" cy="311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539993" y="8184761"/>
            <a:ext cx="13007451" cy="1768110"/>
            <a:chOff x="0" y="0"/>
            <a:chExt cx="3425831" cy="4656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25831" cy="465675"/>
            </a:xfrm>
            <a:custGeom>
              <a:avLst/>
              <a:gdLst/>
              <a:ahLst/>
              <a:cxnLst/>
              <a:rect r="r" b="b" t="t" l="l"/>
              <a:pathLst>
                <a:path h="465675" w="3425831">
                  <a:moveTo>
                    <a:pt x="10118" y="0"/>
                  </a:moveTo>
                  <a:lnTo>
                    <a:pt x="3415712" y="0"/>
                  </a:lnTo>
                  <a:cubicBezTo>
                    <a:pt x="3421301" y="0"/>
                    <a:pt x="3425831" y="4530"/>
                    <a:pt x="3425831" y="10118"/>
                  </a:cubicBezTo>
                  <a:lnTo>
                    <a:pt x="3425831" y="455557"/>
                  </a:lnTo>
                  <a:cubicBezTo>
                    <a:pt x="3425831" y="461145"/>
                    <a:pt x="3421301" y="465675"/>
                    <a:pt x="3415712" y="465675"/>
                  </a:cubicBezTo>
                  <a:lnTo>
                    <a:pt x="10118" y="465675"/>
                  </a:lnTo>
                  <a:cubicBezTo>
                    <a:pt x="7435" y="465675"/>
                    <a:pt x="4861" y="464609"/>
                    <a:pt x="2964" y="462712"/>
                  </a:cubicBezTo>
                  <a:cubicBezTo>
                    <a:pt x="1066" y="460814"/>
                    <a:pt x="0" y="458240"/>
                    <a:pt x="0" y="455557"/>
                  </a:cubicBezTo>
                  <a:lnTo>
                    <a:pt x="0" y="10118"/>
                  </a:lnTo>
                  <a:cubicBezTo>
                    <a:pt x="0" y="7435"/>
                    <a:pt x="1066" y="4861"/>
                    <a:pt x="2964" y="2964"/>
                  </a:cubicBezTo>
                  <a:cubicBezTo>
                    <a:pt x="4861" y="1066"/>
                    <a:pt x="7435" y="0"/>
                    <a:pt x="1011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25831" cy="50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36949" y="8331581"/>
            <a:ext cx="12710494" cy="14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Ill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ustrates the flow of information between the User, the Admin, and the Database through key processes like Authentication and Complaint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9146" y="1911748"/>
            <a:ext cx="11089707" cy="6293409"/>
          </a:xfrm>
          <a:custGeom>
            <a:avLst/>
            <a:gdLst/>
            <a:ahLst/>
            <a:cxnLst/>
            <a:rect r="r" b="b" t="t" l="l"/>
            <a:pathLst>
              <a:path h="6293409" w="11089707">
                <a:moveTo>
                  <a:pt x="0" y="0"/>
                </a:moveTo>
                <a:lnTo>
                  <a:pt x="11089708" y="0"/>
                </a:lnTo>
                <a:lnTo>
                  <a:pt x="11089708" y="6293408"/>
                </a:lnTo>
                <a:lnTo>
                  <a:pt x="0" y="6293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711" y="300037"/>
            <a:ext cx="5892800" cy="134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sz="5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Database Design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913928" y="8473841"/>
            <a:ext cx="13323492" cy="1568918"/>
            <a:chOff x="0" y="0"/>
            <a:chExt cx="3509068" cy="4132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09068" cy="413213"/>
            </a:xfrm>
            <a:custGeom>
              <a:avLst/>
              <a:gdLst/>
              <a:ahLst/>
              <a:cxnLst/>
              <a:rect r="r" b="b" t="t" l="l"/>
              <a:pathLst>
                <a:path h="413213" w="3509068">
                  <a:moveTo>
                    <a:pt x="9878" y="0"/>
                  </a:moveTo>
                  <a:lnTo>
                    <a:pt x="3499190" y="0"/>
                  </a:lnTo>
                  <a:cubicBezTo>
                    <a:pt x="3504645" y="0"/>
                    <a:pt x="3509068" y="4423"/>
                    <a:pt x="3509068" y="9878"/>
                  </a:cubicBezTo>
                  <a:lnTo>
                    <a:pt x="3509068" y="403335"/>
                  </a:lnTo>
                  <a:cubicBezTo>
                    <a:pt x="3509068" y="405955"/>
                    <a:pt x="3508027" y="408467"/>
                    <a:pt x="3506174" y="410320"/>
                  </a:cubicBezTo>
                  <a:cubicBezTo>
                    <a:pt x="3504322" y="412172"/>
                    <a:pt x="3501809" y="413213"/>
                    <a:pt x="3499190" y="413213"/>
                  </a:cubicBezTo>
                  <a:lnTo>
                    <a:pt x="9878" y="413213"/>
                  </a:lnTo>
                  <a:cubicBezTo>
                    <a:pt x="4423" y="413213"/>
                    <a:pt x="0" y="408790"/>
                    <a:pt x="0" y="403335"/>
                  </a:cubicBezTo>
                  <a:lnTo>
                    <a:pt x="0" y="9878"/>
                  </a:lnTo>
                  <a:cubicBezTo>
                    <a:pt x="0" y="4423"/>
                    <a:pt x="4423" y="0"/>
                    <a:pt x="987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09068" cy="451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10702" y="8759190"/>
            <a:ext cx="13126718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Displays the database struct</a:t>
            </a: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 and relationships between Users, Complaints, and System Activity Logs.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293218" y="7178749"/>
            <a:ext cx="1223724" cy="854495"/>
            <a:chOff x="0" y="0"/>
            <a:chExt cx="322298" cy="2250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298" cy="225052"/>
            </a:xfrm>
            <a:custGeom>
              <a:avLst/>
              <a:gdLst/>
              <a:ahLst/>
              <a:cxnLst/>
              <a:rect r="r" b="b" t="t" l="l"/>
              <a:pathLst>
                <a:path h="225052" w="322298">
                  <a:moveTo>
                    <a:pt x="0" y="0"/>
                  </a:moveTo>
                  <a:lnTo>
                    <a:pt x="322298" y="0"/>
                  </a:lnTo>
                  <a:lnTo>
                    <a:pt x="322298" y="225052"/>
                  </a:lnTo>
                  <a:lnTo>
                    <a:pt x="0" y="225052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22298" cy="263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71175" y="5041376"/>
            <a:ext cx="1738555" cy="465167"/>
            <a:chOff x="0" y="0"/>
            <a:chExt cx="457891" cy="1225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7891" cy="122513"/>
            </a:xfrm>
            <a:custGeom>
              <a:avLst/>
              <a:gdLst/>
              <a:ahLst/>
              <a:cxnLst/>
              <a:rect r="r" b="b" t="t" l="l"/>
              <a:pathLst>
                <a:path h="122513" w="457891">
                  <a:moveTo>
                    <a:pt x="61257" y="0"/>
                  </a:moveTo>
                  <a:lnTo>
                    <a:pt x="396634" y="0"/>
                  </a:lnTo>
                  <a:cubicBezTo>
                    <a:pt x="412881" y="0"/>
                    <a:pt x="428461" y="6454"/>
                    <a:pt x="439949" y="17942"/>
                  </a:cubicBezTo>
                  <a:cubicBezTo>
                    <a:pt x="451437" y="29429"/>
                    <a:pt x="457891" y="45010"/>
                    <a:pt x="457891" y="61257"/>
                  </a:cubicBezTo>
                  <a:lnTo>
                    <a:pt x="457891" y="61257"/>
                  </a:lnTo>
                  <a:cubicBezTo>
                    <a:pt x="457891" y="95088"/>
                    <a:pt x="430465" y="122513"/>
                    <a:pt x="396634" y="122513"/>
                  </a:cubicBezTo>
                  <a:lnTo>
                    <a:pt x="61257" y="122513"/>
                  </a:lnTo>
                  <a:cubicBezTo>
                    <a:pt x="27425" y="122513"/>
                    <a:pt x="0" y="95088"/>
                    <a:pt x="0" y="61257"/>
                  </a:cubicBezTo>
                  <a:lnTo>
                    <a:pt x="0" y="61257"/>
                  </a:lnTo>
                  <a:cubicBezTo>
                    <a:pt x="0" y="27425"/>
                    <a:pt x="27425" y="0"/>
                    <a:pt x="6125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7891" cy="160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3399" y="1872210"/>
            <a:ext cx="5317457" cy="2997716"/>
          </a:xfrm>
          <a:custGeom>
            <a:avLst/>
            <a:gdLst/>
            <a:ahLst/>
            <a:cxnLst/>
            <a:rect r="r" b="b" t="t" l="l"/>
            <a:pathLst>
              <a:path h="2997716" w="5317457">
                <a:moveTo>
                  <a:pt x="0" y="0"/>
                </a:moveTo>
                <a:lnTo>
                  <a:pt x="5317457" y="0"/>
                </a:lnTo>
                <a:lnTo>
                  <a:pt x="5317457" y="2997716"/>
                </a:lnTo>
                <a:lnTo>
                  <a:pt x="0" y="29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3399" y="6260584"/>
            <a:ext cx="5317457" cy="2997716"/>
          </a:xfrm>
          <a:custGeom>
            <a:avLst/>
            <a:gdLst/>
            <a:ahLst/>
            <a:cxnLst/>
            <a:rect r="r" b="b" t="t" l="l"/>
            <a:pathLst>
              <a:path h="2997716" w="5317457">
                <a:moveTo>
                  <a:pt x="0" y="0"/>
                </a:moveTo>
                <a:lnTo>
                  <a:pt x="5317457" y="0"/>
                </a:lnTo>
                <a:lnTo>
                  <a:pt x="5317457" y="2997716"/>
                </a:lnTo>
                <a:lnTo>
                  <a:pt x="0" y="29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25873" y="1872210"/>
            <a:ext cx="7333427" cy="4125053"/>
          </a:xfrm>
          <a:custGeom>
            <a:avLst/>
            <a:gdLst/>
            <a:ahLst/>
            <a:cxnLst/>
            <a:rect r="r" b="b" t="t" l="l"/>
            <a:pathLst>
              <a:path h="4125053" w="7333427">
                <a:moveTo>
                  <a:pt x="0" y="0"/>
                </a:moveTo>
                <a:lnTo>
                  <a:pt x="7333427" y="0"/>
                </a:lnTo>
                <a:lnTo>
                  <a:pt x="7333427" y="4125052"/>
                </a:lnTo>
                <a:lnTo>
                  <a:pt x="0" y="4125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427128" y="9429750"/>
            <a:ext cx="2426649" cy="555282"/>
            <a:chOff x="0" y="0"/>
            <a:chExt cx="639118" cy="1462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9118" cy="146247"/>
            </a:xfrm>
            <a:custGeom>
              <a:avLst/>
              <a:gdLst/>
              <a:ahLst/>
              <a:cxnLst/>
              <a:rect r="r" b="b" t="t" l="l"/>
              <a:pathLst>
                <a:path h="146247" w="639118">
                  <a:moveTo>
                    <a:pt x="54236" y="0"/>
                  </a:moveTo>
                  <a:lnTo>
                    <a:pt x="584881" y="0"/>
                  </a:lnTo>
                  <a:cubicBezTo>
                    <a:pt x="599266" y="0"/>
                    <a:pt x="613061" y="5714"/>
                    <a:pt x="623232" y="15885"/>
                  </a:cubicBezTo>
                  <a:cubicBezTo>
                    <a:pt x="633403" y="26057"/>
                    <a:pt x="639118" y="39852"/>
                    <a:pt x="639118" y="54236"/>
                  </a:cubicBezTo>
                  <a:lnTo>
                    <a:pt x="639118" y="92011"/>
                  </a:lnTo>
                  <a:cubicBezTo>
                    <a:pt x="639118" y="121965"/>
                    <a:pt x="614835" y="146247"/>
                    <a:pt x="584881" y="146247"/>
                  </a:cubicBezTo>
                  <a:lnTo>
                    <a:pt x="54236" y="146247"/>
                  </a:lnTo>
                  <a:cubicBezTo>
                    <a:pt x="39852" y="146247"/>
                    <a:pt x="26057" y="140533"/>
                    <a:pt x="15885" y="130362"/>
                  </a:cubicBezTo>
                  <a:cubicBezTo>
                    <a:pt x="5714" y="120190"/>
                    <a:pt x="0" y="106395"/>
                    <a:pt x="0" y="92011"/>
                  </a:cubicBezTo>
                  <a:lnTo>
                    <a:pt x="0" y="54236"/>
                  </a:lnTo>
                  <a:cubicBezTo>
                    <a:pt x="0" y="24282"/>
                    <a:pt x="24282" y="0"/>
                    <a:pt x="5423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9118" cy="18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94972" y="1175558"/>
            <a:ext cx="5349955" cy="538769"/>
            <a:chOff x="0" y="0"/>
            <a:chExt cx="1409042" cy="1418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9042" cy="141898"/>
            </a:xfrm>
            <a:custGeom>
              <a:avLst/>
              <a:gdLst/>
              <a:ahLst/>
              <a:cxnLst/>
              <a:rect r="r" b="b" t="t" l="l"/>
              <a:pathLst>
                <a:path h="141898" w="1409042">
                  <a:moveTo>
                    <a:pt x="24601" y="0"/>
                  </a:moveTo>
                  <a:lnTo>
                    <a:pt x="1384441" y="0"/>
                  </a:lnTo>
                  <a:cubicBezTo>
                    <a:pt x="1390966" y="0"/>
                    <a:pt x="1397223" y="2592"/>
                    <a:pt x="1401836" y="7205"/>
                  </a:cubicBezTo>
                  <a:cubicBezTo>
                    <a:pt x="1406450" y="11819"/>
                    <a:pt x="1409042" y="18076"/>
                    <a:pt x="1409042" y="24601"/>
                  </a:cubicBezTo>
                  <a:lnTo>
                    <a:pt x="1409042" y="117297"/>
                  </a:lnTo>
                  <a:cubicBezTo>
                    <a:pt x="1409042" y="123822"/>
                    <a:pt x="1406450" y="130079"/>
                    <a:pt x="1401836" y="134693"/>
                  </a:cubicBezTo>
                  <a:cubicBezTo>
                    <a:pt x="1397223" y="139306"/>
                    <a:pt x="1390966" y="141898"/>
                    <a:pt x="1384441" y="141898"/>
                  </a:cubicBezTo>
                  <a:lnTo>
                    <a:pt x="24601" y="141898"/>
                  </a:lnTo>
                  <a:cubicBezTo>
                    <a:pt x="18076" y="141898"/>
                    <a:pt x="11819" y="139306"/>
                    <a:pt x="7205" y="134693"/>
                  </a:cubicBezTo>
                  <a:cubicBezTo>
                    <a:pt x="2592" y="130079"/>
                    <a:pt x="0" y="123822"/>
                    <a:pt x="0" y="117297"/>
                  </a:cubicBezTo>
                  <a:lnTo>
                    <a:pt x="0" y="24601"/>
                  </a:lnTo>
                  <a:cubicBezTo>
                    <a:pt x="0" y="18076"/>
                    <a:pt x="2592" y="11819"/>
                    <a:pt x="7205" y="7205"/>
                  </a:cubicBezTo>
                  <a:cubicBezTo>
                    <a:pt x="11819" y="2592"/>
                    <a:pt x="18076" y="0"/>
                    <a:pt x="2460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09042" cy="179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79170" y="6755620"/>
            <a:ext cx="5728448" cy="3229412"/>
          </a:xfrm>
          <a:custGeom>
            <a:avLst/>
            <a:gdLst/>
            <a:ahLst/>
            <a:cxnLst/>
            <a:rect r="r" b="b" t="t" l="l"/>
            <a:pathLst>
              <a:path h="3229412" w="5728448">
                <a:moveTo>
                  <a:pt x="0" y="0"/>
                </a:moveTo>
                <a:lnTo>
                  <a:pt x="5728448" y="0"/>
                </a:lnTo>
                <a:lnTo>
                  <a:pt x="5728448" y="3229412"/>
                </a:lnTo>
                <a:lnTo>
                  <a:pt x="0" y="3229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2927" y="349884"/>
            <a:ext cx="9652000" cy="126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</a:t>
            </a: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plementation / Screenshots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942456" y="5093302"/>
            <a:ext cx="531745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ogin Portal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08578" y="9439275"/>
            <a:ext cx="206375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Registration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479318" y="1239520"/>
            <a:ext cx="475615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</a:t>
            </a: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 Dashboard &amp; Status Overview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89446" y="6291753"/>
            <a:ext cx="4107896" cy="309245"/>
            <a:chOff x="0" y="0"/>
            <a:chExt cx="1081915" cy="814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915" cy="81447"/>
            </a:xfrm>
            <a:custGeom>
              <a:avLst/>
              <a:gdLst/>
              <a:ahLst/>
              <a:cxnLst/>
              <a:rect r="r" b="b" t="t" l="l"/>
              <a:pathLst>
                <a:path h="81447" w="1081915">
                  <a:moveTo>
                    <a:pt x="32039" y="0"/>
                  </a:moveTo>
                  <a:lnTo>
                    <a:pt x="1049876" y="0"/>
                  </a:lnTo>
                  <a:cubicBezTo>
                    <a:pt x="1058373" y="0"/>
                    <a:pt x="1066522" y="3376"/>
                    <a:pt x="1072531" y="9384"/>
                  </a:cubicBezTo>
                  <a:cubicBezTo>
                    <a:pt x="1078539" y="15392"/>
                    <a:pt x="1081915" y="23542"/>
                    <a:pt x="1081915" y="32039"/>
                  </a:cubicBezTo>
                  <a:lnTo>
                    <a:pt x="1081915" y="49408"/>
                  </a:lnTo>
                  <a:cubicBezTo>
                    <a:pt x="1081915" y="67103"/>
                    <a:pt x="1067571" y="81447"/>
                    <a:pt x="1049876" y="81447"/>
                  </a:cubicBezTo>
                  <a:lnTo>
                    <a:pt x="32039" y="81447"/>
                  </a:lnTo>
                  <a:cubicBezTo>
                    <a:pt x="23542" y="81447"/>
                    <a:pt x="15392" y="78072"/>
                    <a:pt x="9384" y="72063"/>
                  </a:cubicBezTo>
                  <a:cubicBezTo>
                    <a:pt x="3376" y="66055"/>
                    <a:pt x="0" y="57906"/>
                    <a:pt x="0" y="49408"/>
                  </a:cubicBezTo>
                  <a:lnTo>
                    <a:pt x="0" y="32039"/>
                  </a:lnTo>
                  <a:cubicBezTo>
                    <a:pt x="0" y="23542"/>
                    <a:pt x="3376" y="15392"/>
                    <a:pt x="9384" y="9384"/>
                  </a:cubicBezTo>
                  <a:cubicBezTo>
                    <a:pt x="15392" y="3376"/>
                    <a:pt x="23542" y="0"/>
                    <a:pt x="3203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81915" cy="11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189446" y="6253653"/>
            <a:ext cx="572844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Complaint Submission Interface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971" y="1515032"/>
            <a:ext cx="8207979" cy="4278409"/>
          </a:xfrm>
          <a:custGeom>
            <a:avLst/>
            <a:gdLst/>
            <a:ahLst/>
            <a:cxnLst/>
            <a:rect r="r" b="b" t="t" l="l"/>
            <a:pathLst>
              <a:path h="4278409" w="8207979">
                <a:moveTo>
                  <a:pt x="0" y="0"/>
                </a:moveTo>
                <a:lnTo>
                  <a:pt x="8207979" y="0"/>
                </a:lnTo>
                <a:lnTo>
                  <a:pt x="8207979" y="4278409"/>
                </a:lnTo>
                <a:lnTo>
                  <a:pt x="0" y="42784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457" y="342359"/>
            <a:ext cx="9074150" cy="828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Implementati</a:t>
            </a:r>
            <a:r>
              <a:rPr lang="en-US" sz="4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/ 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DAHHoljhVF8</dc:identifier>
  <dcterms:modified xsi:type="dcterms:W3CDTF">2011-08-01T06:04:30Z</dcterms:modified>
  <cp:revision>1</cp:revision>
  <dc:title>COMPLAINT MANAGEMENT SYSTEM</dc:title>
</cp:coreProperties>
</file>